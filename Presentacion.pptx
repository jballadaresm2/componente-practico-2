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75" d="100"/>
          <a:sy n="75" d="100"/>
        </p:scale>
        <p:origin x="516" y="-42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48A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151431" y="457200"/>
            <a:ext cx="6023380" cy="6822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3A4C"/>
                </a:solidFill>
                <a:latin typeface="Segoe UI"/>
              </a:defRPr>
            </a:pPr>
            <a:r>
              <a:rPr dirty="0"/>
              <a:t>UNIVERSIDAD ESTATAL DE MILAGRO</a:t>
            </a:r>
          </a:p>
          <a:p>
            <a:pPr>
              <a:spcBef>
                <a:spcPts val="400"/>
              </a:spcBef>
              <a:defRPr sz="1500">
                <a:solidFill>
                  <a:srgbClr val="6E7882"/>
                </a:solidFill>
                <a:latin typeface="Segoe UI"/>
              </a:defRPr>
            </a:pPr>
            <a:r>
              <a:rPr dirty="0" err="1"/>
              <a:t>Facultad</a:t>
            </a:r>
            <a:r>
              <a:rPr dirty="0"/>
              <a:t> de </a:t>
            </a:r>
            <a:r>
              <a:rPr dirty="0" err="1"/>
              <a:t>Ciencias</a:t>
            </a:r>
            <a:r>
              <a:rPr dirty="0"/>
              <a:t> e </a:t>
            </a:r>
            <a:r>
              <a:rPr dirty="0" err="1"/>
              <a:t>Ingenierías</a:t>
            </a:r>
            <a:r>
              <a:rPr dirty="0"/>
              <a:t> | Carrera de Ingeniería </a:t>
            </a:r>
            <a:r>
              <a:rPr dirty="0" err="1"/>
              <a:t>en</a:t>
            </a:r>
            <a:r>
              <a:rPr dirty="0"/>
              <a:t> Software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6751207" cy="116955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1E3A4C"/>
                </a:solidFill>
                <a:latin typeface="Segoe UI"/>
              </a:defRPr>
            </a:pPr>
            <a:r>
              <a:rPr dirty="0" err="1">
                <a:solidFill>
                  <a:srgbClr val="FFC000"/>
                </a:solidFill>
              </a:rPr>
              <a:t>Py</a:t>
            </a:r>
            <a:r>
              <a:rPr dirty="0" err="1"/>
              <a:t>Pharma</a:t>
            </a:r>
            <a:r>
              <a:rPr dirty="0"/>
              <a:t> Manager</a:t>
            </a:r>
          </a:p>
          <a:p>
            <a:pPr>
              <a:defRPr sz="2200">
                <a:solidFill>
                  <a:srgbClr val="48A9A6"/>
                </a:solidFill>
                <a:latin typeface="Segoe UI"/>
              </a:defRPr>
            </a:pPr>
            <a:r>
              <a:rPr dirty="0"/>
              <a:t>Sistema de </a:t>
            </a:r>
            <a:r>
              <a:rPr dirty="0" err="1"/>
              <a:t>Gestión</a:t>
            </a:r>
            <a:r>
              <a:rPr dirty="0"/>
              <a:t> de Farmacia </a:t>
            </a:r>
            <a:r>
              <a:rPr dirty="0" err="1"/>
              <a:t>Orientado</a:t>
            </a:r>
            <a:r>
              <a:rPr dirty="0"/>
              <a:t> a </a:t>
            </a:r>
            <a:r>
              <a:rPr dirty="0" err="1"/>
              <a:t>Objetos</a:t>
            </a:r>
            <a:endParaRPr dirty="0"/>
          </a:p>
        </p:txBody>
      </p:sp>
      <p:sp>
        <p:nvSpPr>
          <p:cNvPr id="7" name="Rounded Rectangle 6"/>
          <p:cNvSpPr/>
          <p:nvPr/>
        </p:nvSpPr>
        <p:spPr>
          <a:xfrm>
            <a:off x="822960" y="3749039"/>
            <a:ext cx="10515600" cy="2651760"/>
          </a:xfrm>
          <a:prstGeom prst="roundRect">
            <a:avLst/>
          </a:prstGeom>
          <a:solidFill>
            <a:srgbClr val="FAFBFC"/>
          </a:solidFill>
          <a:ln w="19050"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3931920"/>
            <a:ext cx="7338419" cy="169790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E3A4C"/>
                </a:solidFill>
                <a:latin typeface="Segoe UI"/>
              </a:defRPr>
            </a:pPr>
            <a:r>
              <a:rPr dirty="0"/>
              <a:t>DATOS ACADÉMICOS Y EQUIPO DE DESARROLLO</a:t>
            </a:r>
          </a:p>
          <a:p>
            <a:pPr>
              <a:spcAft>
                <a:spcPts val="12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dirty="0"/>
              <a:t>• Materia: </a:t>
            </a:r>
            <a:r>
              <a:rPr dirty="0" err="1"/>
              <a:t>Estructura</a:t>
            </a:r>
            <a:r>
              <a:rPr dirty="0"/>
              <a:t> de Datos     </a:t>
            </a:r>
            <a:endParaRPr lang="es-419" dirty="0"/>
          </a:p>
          <a:p>
            <a:pPr>
              <a:spcAft>
                <a:spcPts val="12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dirty="0"/>
              <a:t>• Docente: Ing. Jessica Janina Cabezas Quinto</a:t>
            </a:r>
          </a:p>
          <a:p>
            <a:pPr>
              <a:spcAft>
                <a:spcPts val="600"/>
              </a:spcAft>
              <a:defRPr sz="1400" b="1">
                <a:solidFill>
                  <a:srgbClr val="1E3A4C"/>
                </a:solidFill>
                <a:latin typeface="Segoe UI"/>
              </a:defRPr>
            </a:pPr>
            <a:r>
              <a:rPr dirty="0"/>
              <a:t>• </a:t>
            </a:r>
            <a:r>
              <a:rPr dirty="0" err="1"/>
              <a:t>Integrantes</a:t>
            </a:r>
            <a:r>
              <a:rPr dirty="0"/>
              <a:t> - Grupo 7:</a:t>
            </a:r>
          </a:p>
          <a:p>
            <a:pPr>
              <a:defRPr sz="1400">
                <a:solidFill>
                  <a:srgbClr val="283038"/>
                </a:solidFill>
                <a:latin typeface="Segoe UI"/>
              </a:defRPr>
            </a:pPr>
            <a:r>
              <a:rPr dirty="0"/>
              <a:t>    - Steven </a:t>
            </a:r>
            <a:r>
              <a:rPr dirty="0" err="1"/>
              <a:t>Montalván</a:t>
            </a:r>
            <a:r>
              <a:rPr dirty="0"/>
              <a:t>        - Jonathan Bravo        - Sebastián Nevárez        - Elías Balladares</a:t>
            </a:r>
          </a:p>
        </p:txBody>
      </p:sp>
      <p:pic>
        <p:nvPicPr>
          <p:cNvPr id="9" name="Picture 8" descr="CONVOCATORIA PARA EL PROCESO DE PRE SELECCIÓN PARA CUBRIR LAS NECESIDADES  INSTITUCIONALES DE LA UNIVERSIDAD ESTATAL DE MILAGRO - UNEMI">
            <a:extLst>
              <a:ext uri="{FF2B5EF4-FFF2-40B4-BE49-F238E27FC236}">
                <a16:creationId xmlns:a16="http://schemas.microsoft.com/office/drawing/2014/main" id="{0ED722CA-AB19-52C5-CDB0-FDBDAEA9734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043" t="39303" r="7735" b="40072"/>
          <a:stretch>
            <a:fillRect/>
          </a:stretch>
        </p:blipFill>
        <p:spPr>
          <a:xfrm>
            <a:off x="822961" y="533884"/>
            <a:ext cx="2280004" cy="5442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3A4C"/>
                </a:solidFill>
                <a:latin typeface="Segoe UI"/>
              </a:defRPr>
            </a:pPr>
            <a:r>
              <a:t>¿Qué es PyPharma Manager?</a:t>
            </a:r>
          </a:p>
          <a:p>
            <a:pPr>
              <a:spcBef>
                <a:spcPts val="400"/>
              </a:spcBef>
              <a:defRPr sz="1500">
                <a:solidFill>
                  <a:srgbClr val="6E7882"/>
                </a:solidFill>
                <a:latin typeface="Segoe UI"/>
              </a:defRPr>
            </a:pPr>
            <a:r>
              <a:t>Solución integral para la administración y control farmacéutico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371600" cy="54864"/>
          </a:xfrm>
          <a:prstGeom prst="rect">
            <a:avLst/>
          </a:prstGeom>
          <a:solidFill>
            <a:srgbClr val="48A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1E3A4C"/>
                </a:solidFill>
                <a:latin typeface="Segoe UI"/>
              </a:defRPr>
            </a:pPr>
            <a:r>
              <a:t>Propuesta de Valor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b="1">
                <a:solidFill>
                  <a:srgbClr val="48A9A6"/>
                </a:solidFill>
              </a:rPr>
              <a:t>• Control de Inventario: </a:t>
            </a:r>
            <a:r>
              <a:t>Administración eficiente del catálogo de medicamentos en tiempo real.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b="1">
                <a:solidFill>
                  <a:srgbClr val="48A9A6"/>
                </a:solidFill>
              </a:rPr>
              <a:t>• Gestión de Ventas: </a:t>
            </a:r>
            <a:r>
              <a:t>Registro rápido de pedidos de clientes con cálculo automático de totales.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b="1">
                <a:solidFill>
                  <a:srgbClr val="48A9A6"/>
                </a:solidFill>
              </a:rPr>
              <a:t>• Persistencia Confiable: </a:t>
            </a:r>
            <a:r>
              <a:t>Almacenamiento seguro y continuo en archivos de texto planos (TXT/CSV).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b="1">
                <a:solidFill>
                  <a:srgbClr val="48A9A6"/>
                </a:solidFill>
              </a:rPr>
              <a:t>• Precisión Operativa: </a:t>
            </a:r>
            <a:r>
              <a:t>Previene descuadres de stock y errores de cálculo en caja.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3796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1E3A4C"/>
                </a:solidFill>
                <a:latin typeface="Segoe UI"/>
              </a:defRPr>
            </a:pPr>
            <a:r>
              <a:t>Características Principales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b="1">
                <a:solidFill>
                  <a:srgbClr val="48A9A6"/>
                </a:solidFill>
              </a:rPr>
              <a:t>• Interfaz por Consola: </a:t>
            </a:r>
            <a:r>
              <a:t>Menús interactivos rápidos, fluidos y de excelente legibilidad.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b="1">
                <a:solidFill>
                  <a:srgbClr val="48A9A6"/>
                </a:solidFill>
              </a:rPr>
              <a:t>• Validación Activa: </a:t>
            </a:r>
            <a:r>
              <a:t>Protección contra errores de tipeo y manejo de excepciones (try/except).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b="1">
                <a:solidFill>
                  <a:srgbClr val="48A9A6"/>
                </a:solidFill>
              </a:rPr>
              <a:t>• Orientado a Objetos: </a:t>
            </a:r>
            <a:r>
              <a:t>Modelado robusto con clases especializadas y alta cohesión.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b="1">
                <a:solidFill>
                  <a:srgbClr val="48A9A6"/>
                </a:solidFill>
              </a:rPr>
              <a:t>• Ligero y Nativo: </a:t>
            </a:r>
            <a:r>
              <a:t>Desarrollado en Python puro, sin necesidad de bases de datos externas.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3A4C"/>
                </a:solidFill>
                <a:latin typeface="Segoe UI"/>
              </a:defRPr>
            </a:pPr>
            <a:r>
              <a:t>Arquitectura del Sistema</a:t>
            </a:r>
          </a:p>
          <a:p>
            <a:pPr>
              <a:spcBef>
                <a:spcPts val="400"/>
              </a:spcBef>
              <a:defRPr sz="1500">
                <a:solidFill>
                  <a:srgbClr val="6E7882"/>
                </a:solidFill>
                <a:latin typeface="Segoe UI"/>
              </a:defRPr>
            </a:pPr>
            <a:r>
              <a:t>Organización modular y vista estructural del proyecto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371600" cy="54864"/>
          </a:xfrm>
          <a:prstGeom prst="rect">
            <a:avLst/>
          </a:prstGeom>
          <a:solidFill>
            <a:srgbClr val="48A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30352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1E3A4C"/>
                </a:solidFill>
                <a:latin typeface="Segoe UI"/>
              </a:defRPr>
            </a:pPr>
            <a:r>
              <a:rPr dirty="0" err="1"/>
              <a:t>Diseño</a:t>
            </a:r>
            <a:r>
              <a:rPr dirty="0"/>
              <a:t> Modular </a:t>
            </a:r>
            <a:r>
              <a:rPr dirty="0" err="1"/>
              <a:t>en</a:t>
            </a:r>
            <a:r>
              <a:rPr dirty="0"/>
              <a:t> 3 </a:t>
            </a:r>
            <a:r>
              <a:rPr dirty="0" err="1"/>
              <a:t>Capas</a:t>
            </a:r>
            <a:endParaRPr dirty="0"/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b="1" dirty="0">
                <a:solidFill>
                  <a:srgbClr val="48A9A6"/>
                </a:solidFill>
              </a:rPr>
              <a:t>• Capa de Entrada (main.py): </a:t>
            </a:r>
            <a:r>
              <a:rPr dirty="0"/>
              <a:t>Punto de </a:t>
            </a:r>
            <a:r>
              <a:rPr dirty="0" err="1"/>
              <a:t>inicio</a:t>
            </a:r>
            <a:r>
              <a:rPr dirty="0"/>
              <a:t> </a:t>
            </a:r>
            <a:r>
              <a:rPr dirty="0" err="1"/>
              <a:t>conciso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conecta</a:t>
            </a:r>
            <a:r>
              <a:rPr dirty="0"/>
              <a:t> </a:t>
            </a:r>
            <a:r>
              <a:rPr dirty="0" err="1"/>
              <a:t>módulos</a:t>
            </a:r>
            <a:r>
              <a:rPr dirty="0"/>
              <a:t> y </a:t>
            </a:r>
            <a:r>
              <a:rPr dirty="0" err="1"/>
              <a:t>arranca</a:t>
            </a:r>
            <a:r>
              <a:rPr dirty="0"/>
              <a:t> el </a:t>
            </a:r>
            <a:r>
              <a:rPr dirty="0" err="1"/>
              <a:t>bucle</a:t>
            </a:r>
            <a:r>
              <a:rPr dirty="0"/>
              <a:t> principal.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b="1" dirty="0">
                <a:solidFill>
                  <a:srgbClr val="48A9A6"/>
                </a:solidFill>
              </a:rPr>
              <a:t>• Capa de Modelo (</a:t>
            </a:r>
            <a:r>
              <a:rPr b="1" dirty="0" err="1">
                <a:solidFill>
                  <a:srgbClr val="48A9A6"/>
                </a:solidFill>
              </a:rPr>
              <a:t>clases</a:t>
            </a:r>
            <a:r>
              <a:rPr b="1" dirty="0">
                <a:solidFill>
                  <a:srgbClr val="48A9A6"/>
                </a:solidFill>
              </a:rPr>
              <a:t>/): </a:t>
            </a:r>
            <a:r>
              <a:rPr dirty="0" err="1"/>
              <a:t>Entidades</a:t>
            </a:r>
            <a:r>
              <a:rPr dirty="0"/>
              <a:t> '</a:t>
            </a:r>
            <a:r>
              <a:rPr dirty="0" err="1"/>
              <a:t>Medicamento</a:t>
            </a:r>
            <a:r>
              <a:rPr dirty="0"/>
              <a:t>' y '</a:t>
            </a:r>
            <a:r>
              <a:rPr dirty="0" err="1"/>
              <a:t>Pedido</a:t>
            </a:r>
            <a:r>
              <a:rPr dirty="0"/>
              <a:t>' con </a:t>
            </a:r>
            <a:r>
              <a:rPr dirty="0" err="1"/>
              <a:t>lógica</a:t>
            </a:r>
            <a:r>
              <a:rPr dirty="0"/>
              <a:t> </a:t>
            </a:r>
            <a:r>
              <a:rPr dirty="0" err="1"/>
              <a:t>autónoma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b="1" dirty="0">
                <a:solidFill>
                  <a:srgbClr val="48A9A6"/>
                </a:solidFill>
              </a:rPr>
              <a:t>• Capa de </a:t>
            </a:r>
            <a:r>
              <a:rPr b="1" dirty="0" err="1">
                <a:solidFill>
                  <a:srgbClr val="48A9A6"/>
                </a:solidFill>
              </a:rPr>
              <a:t>Servicios</a:t>
            </a:r>
            <a:r>
              <a:rPr b="1" dirty="0">
                <a:solidFill>
                  <a:srgbClr val="48A9A6"/>
                </a:solidFill>
              </a:rPr>
              <a:t> (</a:t>
            </a:r>
            <a:r>
              <a:rPr b="1" dirty="0" err="1">
                <a:solidFill>
                  <a:srgbClr val="48A9A6"/>
                </a:solidFill>
              </a:rPr>
              <a:t>modulos</a:t>
            </a:r>
            <a:r>
              <a:rPr b="1" dirty="0">
                <a:solidFill>
                  <a:srgbClr val="48A9A6"/>
                </a:solidFill>
              </a:rPr>
              <a:t>/): </a:t>
            </a:r>
            <a:r>
              <a:rPr dirty="0" err="1"/>
              <a:t>Manejo</a:t>
            </a:r>
            <a:r>
              <a:rPr dirty="0"/>
              <a:t> de </a:t>
            </a:r>
            <a:r>
              <a:rPr dirty="0" err="1"/>
              <a:t>archivos</a:t>
            </a:r>
            <a:r>
              <a:rPr dirty="0"/>
              <a:t> TXT, </a:t>
            </a:r>
            <a:r>
              <a:rPr dirty="0" err="1"/>
              <a:t>menús</a:t>
            </a:r>
            <a:r>
              <a:rPr dirty="0"/>
              <a:t> de </a:t>
            </a:r>
            <a:r>
              <a:rPr dirty="0" err="1"/>
              <a:t>usuario</a:t>
            </a:r>
            <a:r>
              <a:rPr dirty="0"/>
              <a:t> y </a:t>
            </a:r>
            <a:r>
              <a:rPr dirty="0" err="1"/>
              <a:t>utilidades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b="1" dirty="0">
                <a:solidFill>
                  <a:srgbClr val="48A9A6"/>
                </a:solidFill>
              </a:rPr>
              <a:t>• </a:t>
            </a:r>
            <a:r>
              <a:rPr b="1" dirty="0" err="1">
                <a:solidFill>
                  <a:srgbClr val="48A9A6"/>
                </a:solidFill>
              </a:rPr>
              <a:t>Desacoplamiento</a:t>
            </a:r>
            <a:r>
              <a:rPr b="1" dirty="0">
                <a:solidFill>
                  <a:srgbClr val="48A9A6"/>
                </a:solidFill>
              </a:rPr>
              <a:t>: </a:t>
            </a:r>
            <a:r>
              <a:rPr dirty="0"/>
              <a:t>Cada </a:t>
            </a:r>
            <a:r>
              <a:rPr dirty="0" err="1"/>
              <a:t>módulo</a:t>
            </a:r>
            <a:r>
              <a:rPr dirty="0"/>
              <a:t> </a:t>
            </a:r>
            <a:r>
              <a:rPr dirty="0" err="1"/>
              <a:t>cumple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única</a:t>
            </a:r>
            <a:r>
              <a:rPr dirty="0"/>
              <a:t> </a:t>
            </a:r>
            <a:r>
              <a:rPr dirty="0" err="1"/>
              <a:t>responsabilidad</a:t>
            </a:r>
            <a:r>
              <a:rPr dirty="0"/>
              <a:t> </a:t>
            </a:r>
            <a:r>
              <a:rPr dirty="0" err="1"/>
              <a:t>clara</a:t>
            </a:r>
            <a:r>
              <a:rPr dirty="0"/>
              <a:t> y bien </a:t>
            </a:r>
            <a:r>
              <a:rPr dirty="0" err="1"/>
              <a:t>definida</a:t>
            </a:r>
            <a:r>
              <a:rPr dirty="0"/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57200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48A9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92240" y="178308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E3A4C"/>
                </a:solidFill>
                <a:latin typeface="Segoe UI"/>
              </a:defRPr>
            </a:pPr>
            <a:r>
              <a:t>📄 Vista de Archivos del Proyecto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194560"/>
            <a:ext cx="4754880" cy="28725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283038"/>
                </a:solidFill>
                <a:latin typeface="Consolas"/>
              </a:defRPr>
            </a:pPr>
            <a:r>
              <a:rPr dirty="0" err="1"/>
              <a:t>PyPharma_Manager</a:t>
            </a:r>
            <a:r>
              <a:rPr dirty="0"/>
              <a:t>/</a:t>
            </a:r>
          </a:p>
          <a:p>
            <a:pPr>
              <a:spcAft>
                <a:spcPts val="400"/>
              </a:spcAft>
              <a:defRPr sz="1200">
                <a:solidFill>
                  <a:srgbClr val="283038"/>
                </a:solidFill>
                <a:latin typeface="Consolas"/>
              </a:defRPr>
            </a:pPr>
            <a:r>
              <a:rPr dirty="0"/>
              <a:t>├── 📂 </a:t>
            </a:r>
            <a:r>
              <a:rPr dirty="0" err="1"/>
              <a:t>clases</a:t>
            </a:r>
            <a:r>
              <a:rPr dirty="0"/>
              <a:t>/</a:t>
            </a:r>
          </a:p>
          <a:p>
            <a:pPr>
              <a:spcAft>
                <a:spcPts val="400"/>
              </a:spcAft>
              <a:defRPr sz="1200">
                <a:solidFill>
                  <a:srgbClr val="283038"/>
                </a:solidFill>
                <a:latin typeface="Consolas"/>
              </a:defRPr>
            </a:pPr>
            <a:r>
              <a:rPr dirty="0"/>
              <a:t>│   ├── 📄 medicamento.py   # Modelo </a:t>
            </a:r>
            <a:r>
              <a:rPr dirty="0" err="1"/>
              <a:t>Fármaco</a:t>
            </a:r>
            <a:endParaRPr dirty="0"/>
          </a:p>
          <a:p>
            <a:pPr>
              <a:spcAft>
                <a:spcPts val="400"/>
              </a:spcAft>
              <a:defRPr sz="1200">
                <a:solidFill>
                  <a:srgbClr val="283038"/>
                </a:solidFill>
                <a:latin typeface="Consolas"/>
              </a:defRPr>
            </a:pPr>
            <a:r>
              <a:rPr dirty="0"/>
              <a:t>│   └── 📄 pedido.py        # Modelo Venta/Orden</a:t>
            </a:r>
          </a:p>
          <a:p>
            <a:pPr>
              <a:spcAft>
                <a:spcPts val="400"/>
              </a:spcAft>
              <a:defRPr sz="1200">
                <a:solidFill>
                  <a:srgbClr val="283038"/>
                </a:solidFill>
                <a:latin typeface="Consolas"/>
              </a:defRPr>
            </a:pPr>
            <a:r>
              <a:rPr dirty="0"/>
              <a:t>├── 📂 </a:t>
            </a:r>
            <a:r>
              <a:rPr dirty="0" err="1"/>
              <a:t>modulos</a:t>
            </a:r>
            <a:r>
              <a:rPr dirty="0"/>
              <a:t>/</a:t>
            </a:r>
          </a:p>
          <a:p>
            <a:pPr>
              <a:spcAft>
                <a:spcPts val="400"/>
              </a:spcAft>
              <a:defRPr sz="1200">
                <a:solidFill>
                  <a:srgbClr val="283038"/>
                </a:solidFill>
                <a:latin typeface="Consolas"/>
              </a:defRPr>
            </a:pPr>
            <a:r>
              <a:rPr dirty="0"/>
              <a:t>│   ├── 📄 gestion_archivos.py # </a:t>
            </a:r>
            <a:r>
              <a:rPr dirty="0" err="1"/>
              <a:t>Persistencia</a:t>
            </a:r>
            <a:r>
              <a:rPr dirty="0"/>
              <a:t> TXT</a:t>
            </a:r>
          </a:p>
          <a:p>
            <a:pPr>
              <a:spcAft>
                <a:spcPts val="400"/>
              </a:spcAft>
              <a:defRPr sz="1200">
                <a:solidFill>
                  <a:srgbClr val="283038"/>
                </a:solidFill>
                <a:latin typeface="Consolas"/>
              </a:defRPr>
            </a:pPr>
            <a:r>
              <a:rPr dirty="0"/>
              <a:t>│   ├── 📄 utilidades.py       # </a:t>
            </a:r>
            <a:r>
              <a:rPr dirty="0" err="1"/>
              <a:t>Validaciones</a:t>
            </a:r>
            <a:r>
              <a:rPr dirty="0"/>
              <a:t> try/ex</a:t>
            </a:r>
            <a:r>
              <a:rPr lang="es-EC" dirty="0"/>
              <a:t>c</a:t>
            </a:r>
            <a:endParaRPr dirty="0"/>
          </a:p>
          <a:p>
            <a:pPr>
              <a:spcAft>
                <a:spcPts val="400"/>
              </a:spcAft>
              <a:defRPr sz="1200">
                <a:solidFill>
                  <a:srgbClr val="283038"/>
                </a:solidFill>
                <a:latin typeface="Consolas"/>
              </a:defRPr>
            </a:pPr>
            <a:r>
              <a:rPr dirty="0"/>
              <a:t>│   └── 📄 menus.py            # </a:t>
            </a:r>
            <a:r>
              <a:rPr dirty="0" err="1"/>
              <a:t>Interfaz</a:t>
            </a:r>
            <a:r>
              <a:rPr dirty="0"/>
              <a:t> de </a:t>
            </a:r>
            <a:r>
              <a:rPr dirty="0" err="1"/>
              <a:t>Usuario</a:t>
            </a:r>
            <a:endParaRPr dirty="0"/>
          </a:p>
          <a:p>
            <a:pPr>
              <a:spcAft>
                <a:spcPts val="400"/>
              </a:spcAft>
              <a:defRPr sz="1200">
                <a:solidFill>
                  <a:srgbClr val="283038"/>
                </a:solidFill>
                <a:latin typeface="Consolas"/>
              </a:defRPr>
            </a:pPr>
            <a:r>
              <a:rPr dirty="0"/>
              <a:t>├── 📂 </a:t>
            </a:r>
            <a:r>
              <a:rPr dirty="0" err="1"/>
              <a:t>datos</a:t>
            </a:r>
            <a:r>
              <a:rPr dirty="0"/>
              <a:t>/</a:t>
            </a:r>
          </a:p>
          <a:p>
            <a:pPr>
              <a:spcAft>
                <a:spcPts val="400"/>
              </a:spcAft>
              <a:defRPr sz="1200">
                <a:solidFill>
                  <a:srgbClr val="283038"/>
                </a:solidFill>
                <a:latin typeface="Consolas"/>
              </a:defRPr>
            </a:pPr>
            <a:r>
              <a:rPr dirty="0"/>
              <a:t>│   ├── 📄 inventario_medicinas.txt</a:t>
            </a:r>
          </a:p>
          <a:p>
            <a:pPr>
              <a:spcAft>
                <a:spcPts val="400"/>
              </a:spcAft>
              <a:defRPr sz="1200">
                <a:solidFill>
                  <a:srgbClr val="283038"/>
                </a:solidFill>
                <a:latin typeface="Consolas"/>
              </a:defRPr>
            </a:pPr>
            <a:r>
              <a:rPr dirty="0"/>
              <a:t>│   └── 📄 registro_pedidos.txt</a:t>
            </a:r>
          </a:p>
          <a:p>
            <a:pPr>
              <a:spcAft>
                <a:spcPts val="400"/>
              </a:spcAft>
              <a:defRPr sz="1200">
                <a:solidFill>
                  <a:srgbClr val="283038"/>
                </a:solidFill>
                <a:latin typeface="Consolas"/>
              </a:defRPr>
            </a:pPr>
            <a:r>
              <a:rPr dirty="0"/>
              <a:t>└── 🚀 main.py              # Entry Point del Sistema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499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3A4C"/>
                </a:solidFill>
                <a:latin typeface="Segoe UI"/>
              </a:defRPr>
            </a:pPr>
            <a:r>
              <a:t>Interfaz de Consola y Navegación</a:t>
            </a:r>
          </a:p>
          <a:p>
            <a:pPr>
              <a:spcBef>
                <a:spcPts val="400"/>
              </a:spcBef>
              <a:defRPr sz="1500">
                <a:solidFill>
                  <a:srgbClr val="6E7882"/>
                </a:solidFill>
                <a:latin typeface="Segoe UI"/>
              </a:defRPr>
            </a:pPr>
            <a:r>
              <a:t>Experiencia de usuario interactiva y protegida contra fallos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371600" cy="54864"/>
          </a:xfrm>
          <a:prstGeom prst="rect">
            <a:avLst/>
          </a:prstGeom>
          <a:solidFill>
            <a:srgbClr val="48A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1E3A4C"/>
                </a:solidFill>
                <a:latin typeface="Segoe UI"/>
              </a:defRPr>
            </a:pPr>
            <a:r>
              <a:t>Navegación e Interacción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b="1">
                <a:solidFill>
                  <a:srgbClr val="48A9A6"/>
                </a:solidFill>
              </a:rPr>
              <a:t>• Menú Principal: </a:t>
            </a:r>
            <a:r>
              <a:t>Opciones numeradas del 1 al 8 para un acceso directo y rápido.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b="1">
                <a:solidFill>
                  <a:srgbClr val="48A9A6"/>
                </a:solidFill>
              </a:rPr>
              <a:t>• Validación de Entrada: </a:t>
            </a:r>
            <a:r>
              <a:t>Uso de 'utilidades.py' para verificar números enteros y decimales.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b="1">
                <a:solidFill>
                  <a:srgbClr val="48A9A6"/>
                </a:solidFill>
              </a:rPr>
              <a:t>• Limpieza de Pantalla: </a:t>
            </a:r>
            <a:r>
              <a:t>Uso de 'os.system("cls")' para mantener una vista ordenada.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b="1">
                <a:solidFill>
                  <a:srgbClr val="48A9A6"/>
                </a:solidFill>
              </a:rPr>
              <a:t>• Flujo Continuo: </a:t>
            </a:r>
            <a:r>
              <a:t>El usuario puede realizar múltiples operaciones sin salir del sistema.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89761"/>
            <a:ext cx="5242060" cy="4528159"/>
          </a:xfrm>
          <a:custGeom>
            <a:avLst/>
            <a:gdLst>
              <a:gd name="csX0" fmla="*/ 0 w 5212080"/>
              <a:gd name="csY0" fmla="*/ 762015 h 4572000"/>
              <a:gd name="csX1" fmla="*/ 762015 w 5212080"/>
              <a:gd name="csY1" fmla="*/ 0 h 4572000"/>
              <a:gd name="csX2" fmla="*/ 4450065 w 5212080"/>
              <a:gd name="csY2" fmla="*/ 0 h 4572000"/>
              <a:gd name="csX3" fmla="*/ 5212080 w 5212080"/>
              <a:gd name="csY3" fmla="*/ 762015 h 4572000"/>
              <a:gd name="csX4" fmla="*/ 5212080 w 5212080"/>
              <a:gd name="csY4" fmla="*/ 3809985 h 4572000"/>
              <a:gd name="csX5" fmla="*/ 4450065 w 5212080"/>
              <a:gd name="csY5" fmla="*/ 4572000 h 4572000"/>
              <a:gd name="csX6" fmla="*/ 762015 w 5212080"/>
              <a:gd name="csY6" fmla="*/ 4572000 h 4572000"/>
              <a:gd name="csX7" fmla="*/ 0 w 5212080"/>
              <a:gd name="csY7" fmla="*/ 3809985 h 4572000"/>
              <a:gd name="csX8" fmla="*/ 0 w 5212080"/>
              <a:gd name="csY8" fmla="*/ 762015 h 4572000"/>
              <a:gd name="csX0" fmla="*/ 0 w 5212080"/>
              <a:gd name="csY0" fmla="*/ 762015 h 4572000"/>
              <a:gd name="csX1" fmla="*/ 4450065 w 5212080"/>
              <a:gd name="csY1" fmla="*/ 0 h 4572000"/>
              <a:gd name="csX2" fmla="*/ 5212080 w 5212080"/>
              <a:gd name="csY2" fmla="*/ 762015 h 4572000"/>
              <a:gd name="csX3" fmla="*/ 5212080 w 5212080"/>
              <a:gd name="csY3" fmla="*/ 3809985 h 4572000"/>
              <a:gd name="csX4" fmla="*/ 4450065 w 5212080"/>
              <a:gd name="csY4" fmla="*/ 4572000 h 4572000"/>
              <a:gd name="csX5" fmla="*/ 762015 w 5212080"/>
              <a:gd name="csY5" fmla="*/ 4572000 h 4572000"/>
              <a:gd name="csX6" fmla="*/ 0 w 5212080"/>
              <a:gd name="csY6" fmla="*/ 3809985 h 4572000"/>
              <a:gd name="csX7" fmla="*/ 0 w 5212080"/>
              <a:gd name="csY7" fmla="*/ 762015 h 4572000"/>
              <a:gd name="csX0" fmla="*/ 14990 w 5212080"/>
              <a:gd name="csY0" fmla="*/ 297933 h 4812456"/>
              <a:gd name="csX1" fmla="*/ 4450065 w 5212080"/>
              <a:gd name="csY1" fmla="*/ 240456 h 4812456"/>
              <a:gd name="csX2" fmla="*/ 5212080 w 5212080"/>
              <a:gd name="csY2" fmla="*/ 1002471 h 4812456"/>
              <a:gd name="csX3" fmla="*/ 5212080 w 5212080"/>
              <a:gd name="csY3" fmla="*/ 4050441 h 4812456"/>
              <a:gd name="csX4" fmla="*/ 4450065 w 5212080"/>
              <a:gd name="csY4" fmla="*/ 4812456 h 4812456"/>
              <a:gd name="csX5" fmla="*/ 762015 w 5212080"/>
              <a:gd name="csY5" fmla="*/ 4812456 h 4812456"/>
              <a:gd name="csX6" fmla="*/ 0 w 5212080"/>
              <a:gd name="csY6" fmla="*/ 4050441 h 4812456"/>
              <a:gd name="csX7" fmla="*/ 14990 w 5212080"/>
              <a:gd name="csY7" fmla="*/ 297933 h 4812456"/>
              <a:gd name="csX0" fmla="*/ 14990 w 5212080"/>
              <a:gd name="csY0" fmla="*/ 297933 h 4812456"/>
              <a:gd name="csX1" fmla="*/ 4450065 w 5212080"/>
              <a:gd name="csY1" fmla="*/ 240456 h 4812456"/>
              <a:gd name="csX2" fmla="*/ 5212080 w 5212080"/>
              <a:gd name="csY2" fmla="*/ 1002471 h 4812456"/>
              <a:gd name="csX3" fmla="*/ 5212080 w 5212080"/>
              <a:gd name="csY3" fmla="*/ 4050441 h 4812456"/>
              <a:gd name="csX4" fmla="*/ 4450065 w 5212080"/>
              <a:gd name="csY4" fmla="*/ 4812456 h 4812456"/>
              <a:gd name="csX5" fmla="*/ 762015 w 5212080"/>
              <a:gd name="csY5" fmla="*/ 4812456 h 4812456"/>
              <a:gd name="csX6" fmla="*/ 0 w 5212080"/>
              <a:gd name="csY6" fmla="*/ 4050441 h 4812456"/>
              <a:gd name="csX7" fmla="*/ 14990 w 5212080"/>
              <a:gd name="csY7" fmla="*/ 297933 h 4812456"/>
              <a:gd name="csX0" fmla="*/ 14990 w 5212080"/>
              <a:gd name="csY0" fmla="*/ 297933 h 4812456"/>
              <a:gd name="csX1" fmla="*/ 4450065 w 5212080"/>
              <a:gd name="csY1" fmla="*/ 240456 h 4812456"/>
              <a:gd name="csX2" fmla="*/ 5212080 w 5212080"/>
              <a:gd name="csY2" fmla="*/ 1002471 h 4812456"/>
              <a:gd name="csX3" fmla="*/ 5212080 w 5212080"/>
              <a:gd name="csY3" fmla="*/ 4050441 h 4812456"/>
              <a:gd name="csX4" fmla="*/ 4450065 w 5212080"/>
              <a:gd name="csY4" fmla="*/ 4812456 h 4812456"/>
              <a:gd name="csX5" fmla="*/ 762015 w 5212080"/>
              <a:gd name="csY5" fmla="*/ 4812456 h 4812456"/>
              <a:gd name="csX6" fmla="*/ 0 w 5212080"/>
              <a:gd name="csY6" fmla="*/ 4050441 h 4812456"/>
              <a:gd name="csX7" fmla="*/ 14990 w 5212080"/>
              <a:gd name="csY7" fmla="*/ 297933 h 4812456"/>
              <a:gd name="csX0" fmla="*/ 14990 w 5212080"/>
              <a:gd name="csY0" fmla="*/ 297933 h 4812456"/>
              <a:gd name="csX1" fmla="*/ 4450065 w 5212080"/>
              <a:gd name="csY1" fmla="*/ 240456 h 4812456"/>
              <a:gd name="csX2" fmla="*/ 5212080 w 5212080"/>
              <a:gd name="csY2" fmla="*/ 1002471 h 4812456"/>
              <a:gd name="csX3" fmla="*/ 5212080 w 5212080"/>
              <a:gd name="csY3" fmla="*/ 4050441 h 4812456"/>
              <a:gd name="csX4" fmla="*/ 4450065 w 5212080"/>
              <a:gd name="csY4" fmla="*/ 4812456 h 4812456"/>
              <a:gd name="csX5" fmla="*/ 762015 w 5212080"/>
              <a:gd name="csY5" fmla="*/ 4812456 h 4812456"/>
              <a:gd name="csX6" fmla="*/ 0 w 5212080"/>
              <a:gd name="csY6" fmla="*/ 4050441 h 4812456"/>
              <a:gd name="csX7" fmla="*/ 14990 w 5212080"/>
              <a:gd name="csY7" fmla="*/ 297933 h 4812456"/>
              <a:gd name="csX0" fmla="*/ 14990 w 5212080"/>
              <a:gd name="csY0" fmla="*/ 192814 h 4707337"/>
              <a:gd name="csX1" fmla="*/ 5212080 w 5212080"/>
              <a:gd name="csY1" fmla="*/ 897352 h 4707337"/>
              <a:gd name="csX2" fmla="*/ 5212080 w 5212080"/>
              <a:gd name="csY2" fmla="*/ 3945322 h 4707337"/>
              <a:gd name="csX3" fmla="*/ 4450065 w 5212080"/>
              <a:gd name="csY3" fmla="*/ 4707337 h 4707337"/>
              <a:gd name="csX4" fmla="*/ 762015 w 5212080"/>
              <a:gd name="csY4" fmla="*/ 4707337 h 4707337"/>
              <a:gd name="csX5" fmla="*/ 0 w 5212080"/>
              <a:gd name="csY5" fmla="*/ 3945322 h 4707337"/>
              <a:gd name="csX6" fmla="*/ 14990 w 5212080"/>
              <a:gd name="csY6" fmla="*/ 192814 h 4707337"/>
              <a:gd name="csX0" fmla="*/ 14990 w 5242060"/>
              <a:gd name="csY0" fmla="*/ 418165 h 4932688"/>
              <a:gd name="csX1" fmla="*/ 5242060 w 5242060"/>
              <a:gd name="csY1" fmla="*/ 433155 h 4932688"/>
              <a:gd name="csX2" fmla="*/ 5212080 w 5242060"/>
              <a:gd name="csY2" fmla="*/ 4170673 h 4932688"/>
              <a:gd name="csX3" fmla="*/ 4450065 w 5242060"/>
              <a:gd name="csY3" fmla="*/ 4932688 h 4932688"/>
              <a:gd name="csX4" fmla="*/ 762015 w 5242060"/>
              <a:gd name="csY4" fmla="*/ 4932688 h 4932688"/>
              <a:gd name="csX5" fmla="*/ 0 w 5242060"/>
              <a:gd name="csY5" fmla="*/ 4170673 h 4932688"/>
              <a:gd name="csX6" fmla="*/ 14990 w 5242060"/>
              <a:gd name="csY6" fmla="*/ 418165 h 4932688"/>
              <a:gd name="csX0" fmla="*/ 14990 w 5242060"/>
              <a:gd name="csY0" fmla="*/ 273426 h 4787949"/>
              <a:gd name="csX1" fmla="*/ 5242060 w 5242060"/>
              <a:gd name="csY1" fmla="*/ 288416 h 4787949"/>
              <a:gd name="csX2" fmla="*/ 5212080 w 5242060"/>
              <a:gd name="csY2" fmla="*/ 4025934 h 4787949"/>
              <a:gd name="csX3" fmla="*/ 4450065 w 5242060"/>
              <a:gd name="csY3" fmla="*/ 4787949 h 4787949"/>
              <a:gd name="csX4" fmla="*/ 762015 w 5242060"/>
              <a:gd name="csY4" fmla="*/ 4787949 h 4787949"/>
              <a:gd name="csX5" fmla="*/ 0 w 5242060"/>
              <a:gd name="csY5" fmla="*/ 4025934 h 4787949"/>
              <a:gd name="csX6" fmla="*/ 14990 w 5242060"/>
              <a:gd name="csY6" fmla="*/ 273426 h 4787949"/>
              <a:gd name="csX0" fmla="*/ 14990 w 5242060"/>
              <a:gd name="csY0" fmla="*/ 95940 h 4610463"/>
              <a:gd name="csX1" fmla="*/ 5242060 w 5242060"/>
              <a:gd name="csY1" fmla="*/ 110930 h 4610463"/>
              <a:gd name="csX2" fmla="*/ 5212080 w 5242060"/>
              <a:gd name="csY2" fmla="*/ 3848448 h 4610463"/>
              <a:gd name="csX3" fmla="*/ 4450065 w 5242060"/>
              <a:gd name="csY3" fmla="*/ 4610463 h 4610463"/>
              <a:gd name="csX4" fmla="*/ 762015 w 5242060"/>
              <a:gd name="csY4" fmla="*/ 4610463 h 4610463"/>
              <a:gd name="csX5" fmla="*/ 0 w 5242060"/>
              <a:gd name="csY5" fmla="*/ 3848448 h 4610463"/>
              <a:gd name="csX6" fmla="*/ 14990 w 5242060"/>
              <a:gd name="csY6" fmla="*/ 95940 h 4610463"/>
              <a:gd name="csX0" fmla="*/ 14990 w 5242060"/>
              <a:gd name="csY0" fmla="*/ 13636 h 4528159"/>
              <a:gd name="csX1" fmla="*/ 5242060 w 5242060"/>
              <a:gd name="csY1" fmla="*/ 28626 h 4528159"/>
              <a:gd name="csX2" fmla="*/ 5212080 w 5242060"/>
              <a:gd name="csY2" fmla="*/ 3766144 h 4528159"/>
              <a:gd name="csX3" fmla="*/ 4450065 w 5242060"/>
              <a:gd name="csY3" fmla="*/ 4528159 h 4528159"/>
              <a:gd name="csX4" fmla="*/ 762015 w 5242060"/>
              <a:gd name="csY4" fmla="*/ 4528159 h 4528159"/>
              <a:gd name="csX5" fmla="*/ 0 w 5242060"/>
              <a:gd name="csY5" fmla="*/ 3766144 h 4528159"/>
              <a:gd name="csX6" fmla="*/ 14990 w 5242060"/>
              <a:gd name="csY6" fmla="*/ 13636 h 452815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5242060" h="4528159">
                <a:moveTo>
                  <a:pt x="14990" y="13636"/>
                </a:moveTo>
                <a:cubicBezTo>
                  <a:pt x="1003592" y="-44654"/>
                  <a:pt x="4330908" y="107746"/>
                  <a:pt x="5242060" y="28626"/>
                </a:cubicBezTo>
                <a:lnTo>
                  <a:pt x="5212080" y="3766144"/>
                </a:lnTo>
                <a:cubicBezTo>
                  <a:pt x="5212080" y="4186993"/>
                  <a:pt x="4870914" y="4528159"/>
                  <a:pt x="4450065" y="4528159"/>
                </a:cubicBezTo>
                <a:lnTo>
                  <a:pt x="762015" y="4528159"/>
                </a:lnTo>
                <a:cubicBezTo>
                  <a:pt x="341166" y="4528159"/>
                  <a:pt x="0" y="4186993"/>
                  <a:pt x="0" y="3766144"/>
                </a:cubicBezTo>
                <a:cubicBezTo>
                  <a:pt x="4997" y="2515308"/>
                  <a:pt x="9993" y="1264472"/>
                  <a:pt x="14990" y="13636"/>
                </a:cubicBezTo>
                <a:close/>
              </a:path>
            </a:pathLst>
          </a:custGeom>
          <a:solidFill>
            <a:srgbClr val="1C2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230620" y="1645920"/>
            <a:ext cx="5212080" cy="365760"/>
          </a:xfrm>
          <a:prstGeom prst="roundRect">
            <a:avLst/>
          </a:prstGeom>
          <a:solidFill>
            <a:srgbClr val="283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6355080" y="1755648"/>
            <a:ext cx="137160" cy="13716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565392" y="1755648"/>
            <a:ext cx="137160" cy="13716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6775704" y="1755648"/>
            <a:ext cx="137160" cy="13716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040880" y="1691640"/>
            <a:ext cx="4297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B4BEC8"/>
                </a:solidFill>
                <a:latin typeface="Consolas"/>
              </a:defRPr>
            </a:pPr>
            <a:r>
              <a:t>Consola - PyPharma Manager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103120"/>
            <a:ext cx="4846320" cy="2900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50DC8C"/>
                </a:solidFill>
                <a:latin typeface="Consolas"/>
              </a:defRPr>
            </a:pPr>
            <a:r>
              <a:rPr sz="1600" dirty="0"/>
              <a:t>===== SISTEMA DE FARMACIA - GRUPO 7 =====</a:t>
            </a:r>
          </a:p>
          <a:p>
            <a:pPr>
              <a:spcAft>
                <a:spcPts val="300"/>
              </a:spcAft>
              <a:defRPr sz="1200">
                <a:solidFill>
                  <a:srgbClr val="50DC8C"/>
                </a:solidFill>
                <a:latin typeface="Consolas"/>
              </a:defRPr>
            </a:pPr>
            <a:r>
              <a:rPr sz="1600" dirty="0"/>
              <a:t>1. Registrar </a:t>
            </a:r>
            <a:r>
              <a:rPr sz="1600" dirty="0" err="1"/>
              <a:t>medicamento</a:t>
            </a:r>
            <a:endParaRPr sz="1600" dirty="0"/>
          </a:p>
          <a:p>
            <a:pPr>
              <a:spcAft>
                <a:spcPts val="300"/>
              </a:spcAft>
              <a:defRPr sz="1200">
                <a:solidFill>
                  <a:srgbClr val="50DC8C"/>
                </a:solidFill>
                <a:latin typeface="Consolas"/>
              </a:defRPr>
            </a:pPr>
            <a:r>
              <a:rPr sz="1600" dirty="0"/>
              <a:t>2. </a:t>
            </a:r>
            <a:r>
              <a:rPr sz="1600" dirty="0" err="1"/>
              <a:t>Actualizar</a:t>
            </a:r>
            <a:r>
              <a:rPr sz="1600" dirty="0"/>
              <a:t> </a:t>
            </a:r>
            <a:r>
              <a:rPr sz="1600" dirty="0" err="1"/>
              <a:t>medicamento</a:t>
            </a:r>
            <a:endParaRPr sz="1600" dirty="0"/>
          </a:p>
          <a:p>
            <a:pPr>
              <a:spcAft>
                <a:spcPts val="300"/>
              </a:spcAft>
              <a:defRPr sz="1200">
                <a:solidFill>
                  <a:srgbClr val="50DC8C"/>
                </a:solidFill>
                <a:latin typeface="Consolas"/>
              </a:defRPr>
            </a:pPr>
            <a:r>
              <a:rPr sz="1600" dirty="0"/>
              <a:t>3. </a:t>
            </a:r>
            <a:r>
              <a:rPr sz="1600" dirty="0" err="1"/>
              <a:t>Buscar</a:t>
            </a:r>
            <a:r>
              <a:rPr sz="1600" dirty="0"/>
              <a:t> </a:t>
            </a:r>
            <a:r>
              <a:rPr sz="1600" dirty="0" err="1"/>
              <a:t>medicamento</a:t>
            </a:r>
            <a:endParaRPr sz="1600" dirty="0"/>
          </a:p>
          <a:p>
            <a:pPr>
              <a:spcAft>
                <a:spcPts val="300"/>
              </a:spcAft>
              <a:defRPr sz="1200">
                <a:solidFill>
                  <a:srgbClr val="50DC8C"/>
                </a:solidFill>
                <a:latin typeface="Consolas"/>
              </a:defRPr>
            </a:pPr>
            <a:r>
              <a:rPr sz="1600" dirty="0"/>
              <a:t>4. </a:t>
            </a:r>
            <a:r>
              <a:rPr sz="1600" dirty="0" err="1"/>
              <a:t>Consultar</a:t>
            </a:r>
            <a:r>
              <a:rPr sz="1600" dirty="0"/>
              <a:t> </a:t>
            </a:r>
            <a:r>
              <a:rPr sz="1600" dirty="0" err="1"/>
              <a:t>inventario</a:t>
            </a:r>
            <a:endParaRPr sz="1600" dirty="0"/>
          </a:p>
          <a:p>
            <a:pPr>
              <a:spcAft>
                <a:spcPts val="300"/>
              </a:spcAft>
              <a:defRPr sz="1200">
                <a:solidFill>
                  <a:srgbClr val="50DC8C"/>
                </a:solidFill>
                <a:latin typeface="Consolas"/>
              </a:defRPr>
            </a:pPr>
            <a:r>
              <a:rPr sz="1600" dirty="0"/>
              <a:t>5. </a:t>
            </a:r>
            <a:r>
              <a:rPr sz="1600" dirty="0" err="1"/>
              <a:t>Eliminar</a:t>
            </a:r>
            <a:r>
              <a:rPr sz="1600" dirty="0"/>
              <a:t> </a:t>
            </a:r>
            <a:r>
              <a:rPr sz="1600" dirty="0" err="1"/>
              <a:t>medicamento</a:t>
            </a:r>
            <a:endParaRPr sz="1600" dirty="0"/>
          </a:p>
          <a:p>
            <a:pPr>
              <a:spcAft>
                <a:spcPts val="300"/>
              </a:spcAft>
              <a:defRPr sz="1200">
                <a:solidFill>
                  <a:srgbClr val="50DC8C"/>
                </a:solidFill>
                <a:latin typeface="Consolas"/>
              </a:defRPr>
            </a:pPr>
            <a:r>
              <a:rPr sz="1600" dirty="0"/>
              <a:t>6. Crear </a:t>
            </a:r>
            <a:r>
              <a:rPr sz="1600" dirty="0" err="1"/>
              <a:t>pedido</a:t>
            </a:r>
            <a:r>
              <a:rPr sz="1600" dirty="0"/>
              <a:t> (</a:t>
            </a:r>
            <a:r>
              <a:rPr sz="1600" dirty="0" err="1"/>
              <a:t>venta</a:t>
            </a:r>
            <a:r>
              <a:rPr sz="1600" dirty="0"/>
              <a:t>)</a:t>
            </a:r>
          </a:p>
          <a:p>
            <a:pPr>
              <a:spcAft>
                <a:spcPts val="300"/>
              </a:spcAft>
              <a:defRPr sz="1200">
                <a:solidFill>
                  <a:srgbClr val="50DC8C"/>
                </a:solidFill>
                <a:latin typeface="Consolas"/>
              </a:defRPr>
            </a:pPr>
            <a:r>
              <a:rPr sz="1600" dirty="0"/>
              <a:t>7. </a:t>
            </a:r>
            <a:r>
              <a:rPr sz="1600" dirty="0" err="1"/>
              <a:t>Consultar</a:t>
            </a:r>
            <a:r>
              <a:rPr sz="1600" dirty="0"/>
              <a:t> </a:t>
            </a:r>
            <a:r>
              <a:rPr sz="1600" dirty="0" err="1"/>
              <a:t>pedidos</a:t>
            </a:r>
            <a:endParaRPr sz="1600" dirty="0"/>
          </a:p>
          <a:p>
            <a:pPr>
              <a:spcAft>
                <a:spcPts val="300"/>
              </a:spcAft>
              <a:defRPr sz="1200">
                <a:solidFill>
                  <a:srgbClr val="50DC8C"/>
                </a:solidFill>
                <a:latin typeface="Consolas"/>
              </a:defRPr>
            </a:pPr>
            <a:r>
              <a:rPr sz="1600" dirty="0"/>
              <a:t>8. </a:t>
            </a:r>
            <a:r>
              <a:rPr sz="1600" dirty="0" err="1"/>
              <a:t>Salir</a:t>
            </a:r>
            <a:endParaRPr sz="1600" dirty="0"/>
          </a:p>
          <a:p>
            <a:pPr>
              <a:spcAft>
                <a:spcPts val="300"/>
              </a:spcAft>
              <a:defRPr sz="1200">
                <a:solidFill>
                  <a:srgbClr val="50DC8C"/>
                </a:solidFill>
                <a:latin typeface="Consolas"/>
              </a:defRPr>
            </a:pPr>
            <a:r>
              <a:rPr sz="1600" dirty="0" err="1"/>
              <a:t>Seleccione</a:t>
            </a:r>
            <a:r>
              <a:rPr sz="1600" dirty="0"/>
              <a:t> </a:t>
            </a:r>
            <a:r>
              <a:rPr sz="1600" dirty="0" err="1"/>
              <a:t>una</a:t>
            </a:r>
            <a:r>
              <a:rPr sz="1600" dirty="0"/>
              <a:t> </a:t>
            </a:r>
            <a:r>
              <a:rPr sz="1600" dirty="0" err="1"/>
              <a:t>opción</a:t>
            </a:r>
            <a:r>
              <a:rPr sz="1600" dirty="0"/>
              <a:t>: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3A4C"/>
                </a:solidFill>
                <a:latin typeface="Segoe UI"/>
              </a:defRPr>
            </a:pPr>
            <a:r>
              <a:t>Gestión de Inventario y Pedidos</a:t>
            </a:r>
          </a:p>
          <a:p>
            <a:pPr>
              <a:spcBef>
                <a:spcPts val="400"/>
              </a:spcBef>
              <a:defRPr sz="1500">
                <a:solidFill>
                  <a:srgbClr val="6E7882"/>
                </a:solidFill>
                <a:latin typeface="Segoe UI"/>
              </a:defRPr>
            </a:pPr>
            <a:r>
              <a:t>Funcionalidades centrales para el control farmacéutico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371600" cy="54864"/>
          </a:xfrm>
          <a:prstGeom prst="rect">
            <a:avLst/>
          </a:prstGeom>
          <a:solidFill>
            <a:srgbClr val="48A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1E3A4C"/>
                </a:solidFill>
                <a:latin typeface="Segoe UI"/>
              </a:defRPr>
            </a:pPr>
            <a:r>
              <a:t>Control de Inventario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b="1">
                <a:solidFill>
                  <a:srgbClr val="48A9A6"/>
                </a:solidFill>
              </a:rPr>
              <a:t>• Alta de Fármacos: </a:t>
            </a:r>
            <a:r>
              <a:t>Registro con verificación automática de nombres duplicados.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b="1">
                <a:solidFill>
                  <a:srgbClr val="48A9A6"/>
                </a:solidFill>
              </a:rPr>
              <a:t>• Consulta y Búsqueda: </a:t>
            </a:r>
            <a:r>
              <a:t>Catálogo formateado y búsqueda por coincidencia parcial de texto.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b="1">
                <a:solidFill>
                  <a:srgbClr val="48A9A6"/>
                </a:solidFill>
              </a:rPr>
              <a:t>• Mantenimiento: </a:t>
            </a:r>
            <a:r>
              <a:t>Edición ágil de precios y reabastecimiento manual de stock.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b="1">
                <a:solidFill>
                  <a:srgbClr val="48A9A6"/>
                </a:solidFill>
              </a:rPr>
              <a:t>• Descuentos: </a:t>
            </a:r>
            <a:r>
              <a:t>Aplicación de rebajas porcentuales (0-100%) con cálculo instantáneo.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3796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1E3A4C"/>
                </a:solidFill>
                <a:latin typeface="Segoe UI"/>
              </a:defRPr>
            </a:pPr>
            <a:r>
              <a:t>Procesamiento de Pedidos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b="1">
                <a:solidFill>
                  <a:srgbClr val="48A9A6"/>
                </a:solidFill>
              </a:rPr>
              <a:t>• Registro de Cliente: </a:t>
            </a:r>
            <a:r>
              <a:t>Asociación de la transacción al nombre del comprador.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b="1">
                <a:solidFill>
                  <a:srgbClr val="48A9A6"/>
                </a:solidFill>
              </a:rPr>
              <a:t>• Carrito de Compras: </a:t>
            </a:r>
            <a:r>
              <a:t>Capacidad de agregar múltiples fármacos en una misma orden.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b="1">
                <a:solidFill>
                  <a:srgbClr val="48A9A6"/>
                </a:solidFill>
              </a:rPr>
              <a:t>• Control de Stock: </a:t>
            </a:r>
            <a:r>
              <a:t>Verificación en tiempo real para evitar vender sin existencias.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b="1">
                <a:solidFill>
                  <a:srgbClr val="48A9A6"/>
                </a:solidFill>
              </a:rPr>
              <a:t>• Resumen y Recibo: </a:t>
            </a:r>
            <a:r>
              <a:t>Impresión detallada de subtotales, total a pagar e historial.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70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3A4C"/>
                </a:solidFill>
                <a:latin typeface="Segoe UI"/>
              </a:defRPr>
            </a:pPr>
            <a:r>
              <a:t>Persistencia y Almacenamiento Seguros</a:t>
            </a:r>
          </a:p>
          <a:p>
            <a:pPr>
              <a:spcBef>
                <a:spcPts val="400"/>
              </a:spcBef>
              <a:defRPr sz="1500">
                <a:solidFill>
                  <a:srgbClr val="6E7882"/>
                </a:solidFill>
                <a:latin typeface="Segoe UI"/>
              </a:defRPr>
            </a:pPr>
            <a:r>
              <a:t>Gestión de datos en archivos planos sin pérdida de información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371600" cy="54864"/>
          </a:xfrm>
          <a:prstGeom prst="rect">
            <a:avLst/>
          </a:prstGeom>
          <a:solidFill>
            <a:srgbClr val="48A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1E3A4C"/>
                </a:solidFill>
                <a:latin typeface="Segoe UI"/>
              </a:defRPr>
            </a:pPr>
            <a:r>
              <a:t>Manejo de Archivos (TXT/CSV)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b="1">
                <a:solidFill>
                  <a:srgbClr val="48A9A6"/>
                </a:solidFill>
              </a:rPr>
              <a:t>• Manejadores de Contexto: </a:t>
            </a:r>
            <a:r>
              <a:t>Uso de 'with open(...)' que garantiza el cierre seguro del archivo.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b="1">
                <a:solidFill>
                  <a:srgbClr val="48A9A6"/>
                </a:solidFill>
              </a:rPr>
              <a:t>• Codificación UTF-8: </a:t>
            </a:r>
            <a:r>
              <a:t>Soporte completo para tildes y caracteres especiales en español.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b="1">
                <a:solidFill>
                  <a:srgbClr val="48A9A6"/>
                </a:solidFill>
              </a:rPr>
              <a:t>• Conversión Automática: </a:t>
            </a:r>
            <a:r>
              <a:t>Función 'evaluar_y_convertir()' que tipifica int, float y str.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b="1">
                <a:solidFill>
                  <a:srgbClr val="48A9A6"/>
                </a:solidFill>
              </a:rPr>
              <a:t>• Sobrescritura Segura: </a:t>
            </a:r>
            <a:r>
              <a:t>Actualización instantánea tras cada registro o venta.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57200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48A9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492240" y="178308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E3A4C"/>
                </a:solidFill>
                <a:latin typeface="Segoe UI"/>
              </a:defRPr>
            </a:pPr>
            <a:r>
              <a:rPr dirty="0"/>
              <a:t>📄 </a:t>
            </a:r>
            <a:r>
              <a:rPr dirty="0" err="1"/>
              <a:t>Estructura</a:t>
            </a:r>
            <a:r>
              <a:rPr dirty="0"/>
              <a:t> de </a:t>
            </a:r>
            <a:r>
              <a:rPr dirty="0" err="1"/>
              <a:t>Archivos</a:t>
            </a:r>
            <a:r>
              <a:rPr dirty="0"/>
              <a:t> TXT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19456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283038"/>
                </a:solidFill>
                <a:latin typeface="Consolas"/>
              </a:defRPr>
            </a:pPr>
            <a:r>
              <a:rPr dirty="0"/>
              <a:t>=== </a:t>
            </a:r>
            <a:r>
              <a:rPr dirty="0" err="1"/>
              <a:t>datos</a:t>
            </a:r>
            <a:r>
              <a:rPr dirty="0"/>
              <a:t>/inventario_medicinas.txt ===</a:t>
            </a:r>
          </a:p>
          <a:p>
            <a:pPr>
              <a:spcAft>
                <a:spcPts val="400"/>
              </a:spcAft>
              <a:defRPr sz="1200">
                <a:solidFill>
                  <a:srgbClr val="283038"/>
                </a:solidFill>
                <a:latin typeface="Consolas"/>
              </a:defRPr>
            </a:pPr>
            <a:r>
              <a:rPr dirty="0"/>
              <a:t>15,Paracetamol,0.3</a:t>
            </a:r>
          </a:p>
          <a:p>
            <a:pPr>
              <a:spcAft>
                <a:spcPts val="400"/>
              </a:spcAft>
              <a:defRPr sz="1200">
                <a:solidFill>
                  <a:srgbClr val="283038"/>
                </a:solidFill>
                <a:latin typeface="Consolas"/>
              </a:defRPr>
            </a:pPr>
            <a:r>
              <a:rPr dirty="0"/>
              <a:t>24,Ibuprofeno,0.85</a:t>
            </a:r>
          </a:p>
          <a:p>
            <a:pPr>
              <a:spcAft>
                <a:spcPts val="400"/>
              </a:spcAft>
              <a:defRPr sz="1200">
                <a:solidFill>
                  <a:srgbClr val="283038"/>
                </a:solidFill>
                <a:latin typeface="Consolas"/>
              </a:defRPr>
            </a:pPr>
            <a:r>
              <a:rPr dirty="0"/>
              <a:t>34,Amoxicilina,0.45</a:t>
            </a:r>
          </a:p>
          <a:p>
            <a:pPr>
              <a:spcAft>
                <a:spcPts val="400"/>
              </a:spcAft>
              <a:defRPr sz="1200">
                <a:solidFill>
                  <a:srgbClr val="283038"/>
                </a:solidFill>
                <a:latin typeface="Consolas"/>
              </a:defRPr>
            </a:pPr>
            <a:r>
              <a:rPr dirty="0"/>
              <a:t>10,Omeprazol,0.8</a:t>
            </a:r>
          </a:p>
          <a:p>
            <a:pPr>
              <a:spcAft>
                <a:spcPts val="400"/>
              </a:spcAft>
              <a:defRPr sz="1200">
                <a:solidFill>
                  <a:srgbClr val="283038"/>
                </a:solidFill>
                <a:latin typeface="Consolas"/>
              </a:defRPr>
            </a:pPr>
            <a:r>
              <a:rPr dirty="0"/>
              <a:t>50,Vitamina C,1.5</a:t>
            </a:r>
          </a:p>
          <a:p>
            <a:pPr>
              <a:spcAft>
                <a:spcPts val="400"/>
              </a:spcAft>
              <a:defRPr sz="1200">
                <a:solidFill>
                  <a:srgbClr val="283038"/>
                </a:solidFill>
                <a:latin typeface="Consolas"/>
              </a:defRPr>
            </a:pPr>
            <a:endParaRPr dirty="0"/>
          </a:p>
          <a:p>
            <a:pPr>
              <a:spcAft>
                <a:spcPts val="400"/>
              </a:spcAft>
              <a:defRPr sz="1200">
                <a:solidFill>
                  <a:srgbClr val="283038"/>
                </a:solidFill>
                <a:latin typeface="Consolas"/>
              </a:defRPr>
            </a:pPr>
            <a:r>
              <a:rPr dirty="0"/>
              <a:t>=== </a:t>
            </a:r>
            <a:r>
              <a:rPr dirty="0" err="1"/>
              <a:t>datos</a:t>
            </a:r>
            <a:r>
              <a:rPr dirty="0"/>
              <a:t>/registro_pedidos.txt ===</a:t>
            </a:r>
          </a:p>
          <a:p>
            <a:pPr>
              <a:spcAft>
                <a:spcPts val="400"/>
              </a:spcAft>
              <a:defRPr sz="1200">
                <a:solidFill>
                  <a:srgbClr val="283038"/>
                </a:solidFill>
                <a:latin typeface="Consolas"/>
              </a:defRPr>
            </a:pPr>
            <a:r>
              <a:rPr dirty="0"/>
              <a:t>Steven,2,Cefalexina,0.2</a:t>
            </a:r>
          </a:p>
          <a:p>
            <a:pPr>
              <a:spcAft>
                <a:spcPts val="400"/>
              </a:spcAft>
              <a:defRPr sz="1200">
                <a:solidFill>
                  <a:srgbClr val="283038"/>
                </a:solidFill>
                <a:latin typeface="Consolas"/>
              </a:defRPr>
            </a:pPr>
            <a:r>
              <a:rPr dirty="0"/>
              <a:t>Jonathan,2,Loratadina,0.25</a:t>
            </a:r>
          </a:p>
          <a:p>
            <a:pPr>
              <a:spcAft>
                <a:spcPts val="400"/>
              </a:spcAft>
              <a:defRPr sz="1200">
                <a:solidFill>
                  <a:srgbClr val="283038"/>
                </a:solidFill>
                <a:latin typeface="Consolas"/>
              </a:defRPr>
            </a:pPr>
            <a:r>
              <a:rPr dirty="0"/>
              <a:t>Elias,3,Paracetamol,0.3</a:t>
            </a:r>
          </a:p>
          <a:p>
            <a:pPr>
              <a:spcAft>
                <a:spcPts val="400"/>
              </a:spcAft>
              <a:defRPr sz="1200">
                <a:solidFill>
                  <a:srgbClr val="283038"/>
                </a:solidFill>
                <a:latin typeface="Consolas"/>
              </a:defRPr>
            </a:pPr>
            <a:r>
              <a:rPr dirty="0"/>
              <a:t>Sebastian,1,Vitamina C,1.5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727ACBB-D31B-598E-937C-A55D20E39BCE}"/>
              </a:ext>
            </a:extLst>
          </p:cNvPr>
          <p:cNvCxnSpPr/>
          <p:nvPr/>
        </p:nvCxnSpPr>
        <p:spPr>
          <a:xfrm>
            <a:off x="6492240" y="3732551"/>
            <a:ext cx="4754880" cy="0"/>
          </a:xfrm>
          <a:prstGeom prst="line">
            <a:avLst/>
          </a:prstGeom>
          <a:ln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3A4C"/>
                </a:solidFill>
                <a:latin typeface="Segoe UI"/>
              </a:defRPr>
            </a:pPr>
            <a:r>
              <a:t>Principio Técnico: Comunicación Directa</a:t>
            </a:r>
          </a:p>
          <a:p>
            <a:pPr>
              <a:spcBef>
                <a:spcPts val="400"/>
              </a:spcBef>
              <a:defRPr sz="1500">
                <a:solidFill>
                  <a:srgbClr val="6E7882"/>
                </a:solidFill>
                <a:latin typeface="Segoe UI"/>
              </a:defRPr>
            </a:pPr>
            <a:r>
              <a:t>'Que cada parte asuma lo que le corresponde'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371600" cy="54864"/>
          </a:xfrm>
          <a:prstGeom prst="rect">
            <a:avLst/>
          </a:prstGeom>
          <a:solidFill>
            <a:srgbClr val="48A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1E3A4C"/>
                </a:solidFill>
                <a:latin typeface="Segoe UI"/>
              </a:defRPr>
            </a:pPr>
            <a:r>
              <a:t>Autonomía de las Clases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b="1">
                <a:solidFill>
                  <a:srgbClr val="48A9A6"/>
                </a:solidFill>
              </a:rPr>
              <a:t>• Clase Medicamento: </a:t>
            </a:r>
            <a:r>
              <a:t>Cuenta con métodos 'a_lista()' y 'desde_lista()' para autogestionarse.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b="1">
                <a:solidFill>
                  <a:srgbClr val="48A9A6"/>
                </a:solidFill>
              </a:rPr>
              <a:t>• Clase Pedido: </a:t>
            </a:r>
            <a:r>
              <a:t>Cuenta con 'a_filas_registro()' para exportar sus ventas al historial.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b="1">
                <a:solidFill>
                  <a:srgbClr val="48A9A6"/>
                </a:solidFill>
              </a:rPr>
              <a:t>• Módulo de Archivos: </a:t>
            </a:r>
            <a:r>
              <a:t>Se enfoca exclusivamente en la lectura y escritura en el disco.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b="1">
                <a:solidFill>
                  <a:srgbClr val="48A9A6"/>
                </a:solidFill>
              </a:rPr>
              <a:t>• Módulo de Menús: </a:t>
            </a:r>
            <a:r>
              <a:t>Conecta directamente las clases con el guardado de archivos.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3796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1E3A4C"/>
                </a:solidFill>
                <a:latin typeface="Segoe UI"/>
              </a:defRPr>
            </a:pPr>
            <a:r>
              <a:t>Ventajas del Diseño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b="1">
                <a:solidFill>
                  <a:srgbClr val="48A9A6"/>
                </a:solidFill>
              </a:rPr>
              <a:t>• Sin Intermediarios: </a:t>
            </a:r>
            <a:r>
              <a:t>Eliminación de módulos traductores innecesarios y código duplicado.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b="1">
                <a:solidFill>
                  <a:srgbClr val="48A9A6"/>
                </a:solidFill>
              </a:rPr>
              <a:t>• Alta Cohesión: </a:t>
            </a:r>
            <a:r>
              <a:t>Cada entidad es dueña absoluta de sus datos y formato.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b="1">
                <a:solidFill>
                  <a:srgbClr val="48A9A6"/>
                </a:solidFill>
              </a:rPr>
              <a:t>• Bajo Acoplamiento: </a:t>
            </a:r>
            <a:r>
              <a:t>Las capas se comunican mediante interfaces estándar de listas.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b="1">
                <a:solidFill>
                  <a:srgbClr val="48A9A6"/>
                </a:solidFill>
              </a:rPr>
              <a:t>• Legibilidad: </a:t>
            </a:r>
            <a:r>
              <a:t>Código limpio, profesional y altamente mantenible.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3A4C"/>
                </a:solidFill>
                <a:latin typeface="Segoe UI"/>
              </a:defRPr>
            </a:pPr>
            <a:r>
              <a:t>Conclusiones del Proyecto</a:t>
            </a:r>
          </a:p>
          <a:p>
            <a:pPr>
              <a:spcBef>
                <a:spcPts val="400"/>
              </a:spcBef>
              <a:defRPr sz="1500">
                <a:solidFill>
                  <a:srgbClr val="6E7882"/>
                </a:solidFill>
                <a:latin typeface="Segoe UI"/>
              </a:defRPr>
            </a:pPr>
            <a:r>
              <a:t>Logros académicos y síntesis técnica de PyPharma Manager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371600" cy="54864"/>
          </a:xfrm>
          <a:prstGeom prst="rect">
            <a:avLst/>
          </a:prstGeom>
          <a:solidFill>
            <a:srgbClr val="48A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1E3A4C"/>
                </a:solidFill>
                <a:latin typeface="Segoe UI"/>
              </a:defRPr>
            </a:pPr>
            <a:r>
              <a:t>Logros Académicos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b="1">
                <a:solidFill>
                  <a:srgbClr val="48A9A6"/>
                </a:solidFill>
              </a:rPr>
              <a:t>• Estructura de Datos: </a:t>
            </a:r>
            <a:r>
              <a:t>Aplicación práctica y eficiente de listas, diccionarios y objetos.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b="1">
                <a:solidFill>
                  <a:srgbClr val="48A9A6"/>
                </a:solidFill>
              </a:rPr>
              <a:t>• Ingeniería en Software: </a:t>
            </a:r>
            <a:r>
              <a:t>Desarrollo aplicando modularidad y buenas prácticas de codificación.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b="1">
                <a:solidFill>
                  <a:srgbClr val="48A9A6"/>
                </a:solidFill>
              </a:rPr>
              <a:t>• Robustez del Sistema: </a:t>
            </a:r>
            <a:r>
              <a:t>Prevención total de fallos de ejecución ante entradas del usuario.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b="1">
                <a:solidFill>
                  <a:srgbClr val="48A9A6"/>
                </a:solidFill>
              </a:rPr>
              <a:t>• Trabajo en Equipo: </a:t>
            </a:r>
            <a:r>
              <a:t>Colaboración exitosa y articulación del Grupo 7.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37960" y="1828800"/>
            <a:ext cx="4663440" cy="354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1E3A4C"/>
                </a:solidFill>
                <a:latin typeface="Segoe UI"/>
              </a:defRPr>
            </a:pPr>
            <a:r>
              <a:rPr dirty="0" err="1"/>
              <a:t>PyPharma</a:t>
            </a:r>
            <a:r>
              <a:rPr dirty="0"/>
              <a:t> Manager - Grupo 7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b="1" dirty="0">
                <a:solidFill>
                  <a:srgbClr val="48A9A6"/>
                </a:solidFill>
              </a:rPr>
              <a:t>• Steven </a:t>
            </a:r>
            <a:r>
              <a:rPr b="1" dirty="0" err="1">
                <a:solidFill>
                  <a:srgbClr val="48A9A6"/>
                </a:solidFill>
              </a:rPr>
              <a:t>Montalván</a:t>
            </a:r>
            <a:r>
              <a:rPr b="1" dirty="0">
                <a:solidFill>
                  <a:srgbClr val="48A9A6"/>
                </a:solidFill>
              </a:rPr>
              <a:t>: </a:t>
            </a:r>
            <a:r>
              <a:rPr dirty="0"/>
              <a:t>Desarrollo de </a:t>
            </a:r>
            <a:r>
              <a:rPr dirty="0" err="1"/>
              <a:t>Modelos</a:t>
            </a:r>
            <a:r>
              <a:rPr dirty="0"/>
              <a:t> y </a:t>
            </a:r>
            <a:r>
              <a:rPr dirty="0" err="1"/>
              <a:t>Lógica</a:t>
            </a:r>
            <a:r>
              <a:rPr dirty="0"/>
              <a:t> de </a:t>
            </a:r>
            <a:r>
              <a:rPr dirty="0" err="1"/>
              <a:t>Pedidos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b="1" dirty="0">
                <a:solidFill>
                  <a:srgbClr val="48A9A6"/>
                </a:solidFill>
              </a:rPr>
              <a:t>• Jonathan Bravo: </a:t>
            </a:r>
            <a:r>
              <a:rPr dirty="0" err="1"/>
              <a:t>Módulo</a:t>
            </a:r>
            <a:r>
              <a:rPr dirty="0"/>
              <a:t> de </a:t>
            </a:r>
            <a:r>
              <a:rPr dirty="0" err="1"/>
              <a:t>Persistencia</a:t>
            </a:r>
            <a:r>
              <a:rPr dirty="0"/>
              <a:t> y </a:t>
            </a:r>
            <a:r>
              <a:rPr dirty="0" err="1"/>
              <a:t>Gestión</a:t>
            </a:r>
            <a:r>
              <a:rPr dirty="0"/>
              <a:t> de </a:t>
            </a:r>
            <a:r>
              <a:rPr dirty="0" err="1"/>
              <a:t>Archivos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b="1" dirty="0">
                <a:solidFill>
                  <a:srgbClr val="48A9A6"/>
                </a:solidFill>
              </a:rPr>
              <a:t>• Sebastián Nevárez: </a:t>
            </a:r>
            <a:r>
              <a:rPr dirty="0" err="1"/>
              <a:t>Interfaz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Consola y Punto de Entrada.</a:t>
            </a:r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b="1" dirty="0">
                <a:solidFill>
                  <a:srgbClr val="48A9A6"/>
                </a:solidFill>
              </a:rPr>
              <a:t>• Elías Balladares: </a:t>
            </a:r>
            <a:r>
              <a:rPr dirty="0" err="1"/>
              <a:t>Validaciones</a:t>
            </a:r>
            <a:r>
              <a:rPr dirty="0"/>
              <a:t>, </a:t>
            </a:r>
            <a:r>
              <a:rPr dirty="0" err="1"/>
              <a:t>Búsquedas</a:t>
            </a:r>
            <a:r>
              <a:rPr dirty="0"/>
              <a:t> y </a:t>
            </a:r>
            <a:r>
              <a:rPr dirty="0" err="1"/>
              <a:t>Pruebas</a:t>
            </a:r>
            <a:r>
              <a:rPr dirty="0"/>
              <a:t> </a:t>
            </a:r>
            <a:r>
              <a:rPr dirty="0" err="1"/>
              <a:t>Integrales</a:t>
            </a:r>
            <a:r>
              <a:rPr dirty="0"/>
              <a:t>.</a:t>
            </a:r>
            <a:endParaRPr lang="es-419" dirty="0"/>
          </a:p>
          <a:p>
            <a:pPr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endParaRPr dirty="0"/>
          </a:p>
          <a:p>
            <a:pPr algn="ctr">
              <a:spcAft>
                <a:spcPts val="800"/>
              </a:spcAft>
              <a:defRPr sz="1400">
                <a:solidFill>
                  <a:srgbClr val="283038"/>
                </a:solidFill>
                <a:latin typeface="Segoe UI"/>
              </a:defRPr>
            </a:pPr>
            <a:r>
              <a:rPr sz="3600" b="1" dirty="0">
                <a:solidFill>
                  <a:srgbClr val="48A9A6"/>
                </a:solidFill>
              </a:rPr>
              <a:t>¡</a:t>
            </a:r>
            <a:r>
              <a:rPr sz="3600" b="1" dirty="0" err="1">
                <a:solidFill>
                  <a:srgbClr val="48A9A6"/>
                </a:solidFill>
              </a:rPr>
              <a:t>Muchas</a:t>
            </a:r>
            <a:r>
              <a:rPr sz="3600" b="1" dirty="0">
                <a:solidFill>
                  <a:srgbClr val="48A9A6"/>
                </a:solidFill>
              </a:rPr>
              <a:t> Gracias!</a:t>
            </a:r>
            <a:endParaRPr sz="3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1103</Words>
  <Application>Microsoft Office PowerPoint</Application>
  <PresentationFormat>Widescreen</PresentationFormat>
  <Paragraphs>117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Jose Balladares</cp:lastModifiedBy>
  <cp:revision>2</cp:revision>
  <dcterms:created xsi:type="dcterms:W3CDTF">2013-01-27T09:14:16Z</dcterms:created>
  <dcterms:modified xsi:type="dcterms:W3CDTF">2026-07-07T01:30:13Z</dcterms:modified>
  <cp:category/>
</cp:coreProperties>
</file>