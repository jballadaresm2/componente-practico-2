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4"/>
    <p:sldId id="258" r:id="rId4"/>
    <p:sldId id="261" r:id="rId7"/>
    <p:sldId id="262" r:id="rId8"/>
    <p:sldId id="260" r:id="rId6"/>
    <p:sldId id="259" r:id="rId5"/>
    <p:sldId id="265" r:id="rId15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4.xml"/><Relationship Id="rId8" Type="http://schemas.openxmlformats.org/officeDocument/2006/relationships/slide" Target="slides/slide6.xml"/><Relationship Id="rId9" Type="http://schemas.openxmlformats.org/officeDocument/2006/relationships/slide" Target="slides/slide9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151431" y="457200"/>
            <a:ext cx="6023380" cy="682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UNIVERSIDAD ESTATAL DE MILAGRO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rPr lang="es-EC" noProof="0" dirty="0"/>
              <a:t>Facultad de Ciencias e Ingenierías | Carrera de Ingeniería en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751207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>
                <a:solidFill>
                  <a:srgbClr val="FFC000"/>
                </a:solidFill>
              </a:rPr>
              <a:t>Py</a:t>
            </a:r>
            <a:r>
              <a:rPr lang="es-EC" noProof="0" dirty="0"/>
              <a:t>Pharma Manager</a:t>
            </a:r>
          </a:p>
          <a:p>
            <a:pPr>
              <a:defRPr sz="2200">
                <a:solidFill>
                  <a:srgbClr val="48A9A6"/>
                </a:solidFill>
                <a:latin typeface="Segoe UI"/>
              </a:defRPr>
            </a:pPr>
            <a:r>
              <a:rPr lang="es-EC" noProof="0" dirty="0"/>
              <a:t>Sistema de Gestión de Farmacia Orientado a Objetos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10515600" cy="265176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338419" cy="1697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DATOS ACADÉMICOS Y EQUIPO DE DESARROLLO</a:t>
            </a:r>
          </a:p>
          <a:p>
            <a:pPr>
              <a:spcAft>
                <a:spcPts val="12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noProof="0" dirty="0"/>
              <a:t>• Materia: Estructura de Datos     </a:t>
            </a:r>
          </a:p>
          <a:p>
            <a:pPr>
              <a:spcAft>
                <a:spcPts val="12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noProof="0" dirty="0"/>
              <a:t>• Docente: Ing. Jessica Janina Cabezas Quinto</a:t>
            </a:r>
          </a:p>
          <a:p>
            <a:pPr>
              <a:spcAft>
                <a:spcPts val="600"/>
              </a:spcAft>
              <a:defRPr sz="14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• Integrantes - Grupo 7:</a:t>
            </a:r>
          </a:p>
          <a:p>
            <a:pPr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noProof="0" dirty="0"/>
              <a:t>    - Steven Montalván        - Jonathan Bravo        - Sebastián Nevárez        - Elías Balladares</a:t>
            </a:r>
          </a:p>
        </p:txBody>
      </p:sp>
      <p:pic>
        <p:nvPicPr>
          <p:cNvPr id="9" name="Picture 8" descr="CONVOCATORIA PARA EL PROCESO DE PRE SELECCIÓN PARA CUBRIR LAS NECESIDADES  INSTITUCIONALES DE LA UNIVERSIDAD ESTATAL DE MILAGRO - UNEMI">
            <a:extLst>
              <a:ext uri="{FF2B5EF4-FFF2-40B4-BE49-F238E27FC236}">
                <a16:creationId xmlns:a16="http://schemas.microsoft.com/office/drawing/2014/main" id="{0ED722CA-AB19-52C5-CDB0-FDBDAEA9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43" t="39303" r="7735" b="40072"/>
          <a:stretch>
            <a:fillRect/>
          </a:stretch>
        </p:blipFill>
        <p:spPr>
          <a:xfrm>
            <a:off x="822961" y="533884"/>
            <a:ext cx="2280004" cy="544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Jerarquía del Sistema: De la Raíz a la Superficie</a:t>
            </a:r>
          </a:p>
          <a:p>
            <a:pPr>
              <a:defRPr sz="1500">
                <a:solidFill>
                  <a:srgbClr val="6E7882"/>
                </a:solidFill>
                <a:latin typeface="Segoe UI"/>
              </a:defRPr>
            </a:pPr>
            <a:r>
              <a:t>Estructura en capas y flujo bottom-up para la presentación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000"/>
            <a:ext cx="10728960" cy="13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52400" rIns="190500" bIns="152400"/>
          <a:lstStyle/>
          <a:p>
            <a:pPr algn="ctr">
              <a:defRPr sz="1700" b="1">
                <a:solidFill>
                  <a:srgbClr val="1E3A4C"/>
                </a:solidFill>
                <a:latin typeface="Segoe UI"/>
              </a:defRPr>
            </a:pPr>
            <a:r>
              <a:t>🔵  3. LA SUPERFICIE: Interfaz Visual y Consola (Capa de Presentación / UI)</a:t>
            </a:r>
          </a:p>
          <a:p>
            <a:pPr>
              <a:defRPr sz="1300">
                <a:solidFill>
                  <a:srgbClr val="333333"/>
                </a:solidFill>
                <a:latin typeface="Segoe UI"/>
              </a:defRPr>
            </a:pPr>
            <a:r>
              <a:t>• Interfaz Operativa: Menús interactivos por consola ('menus.py' y 'main.py') con validaciones activas y limpieza de pantalla.</a:t>
            </a:r>
          </a:p>
          <a:p>
            <a:pPr>
              <a:defRPr sz="1300">
                <a:solidFill>
                  <a:srgbClr val="333333"/>
                </a:solidFill>
                <a:latin typeface="Segoe UI"/>
              </a:defRPr>
            </a:pPr>
            <a:r>
              <a:t>• Soporte Web HTML5: Página web de apoyo ('index.html' y 'presentacion.html') que documenta visualmente el proyecto.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000"/>
            <a:ext cx="10728960" cy="13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52400" rIns="190500" bIns="152400"/>
          <a:lstStyle/>
          <a:p>
            <a:pPr algn="ctr">
              <a:defRPr sz="1700" b="1">
                <a:solidFill>
                  <a:srgbClr val="1E3A4C"/>
                </a:solidFill>
                <a:latin typeface="Segoe UI"/>
              </a:defRPr>
            </a:pPr>
            <a:r>
              <a:t>🟡  2. EL TRONCO: Lógica de Negocio y Estructuras de Datos (Capa de Dominio POO)</a:t>
            </a:r>
          </a:p>
          <a:p>
            <a:pPr>
              <a:defRPr sz="1300">
                <a:solidFill>
                  <a:srgbClr val="333333"/>
                </a:solidFill>
                <a:latin typeface="Segoe UI"/>
              </a:defRPr>
            </a:pPr>
            <a:r>
              <a:t>• Modelos en Memoria RAM: Clases 'Medicamento' (stock, descuentos) y 'Pedido' (carrito de compras, total, historial).</a:t>
            </a:r>
          </a:p>
          <a:p>
            <a:pPr>
              <a:defRPr sz="1300">
                <a:solidFill>
                  <a:srgbClr val="333333"/>
                </a:solidFill>
                <a:latin typeface="Segoe UI"/>
              </a:defRPr>
            </a:pPr>
            <a:r>
              <a:t>• Modularidad y Seguridad: Búsquedas ultrarrápidas en listas de objetos y manejo de excepciones ('utilidades.py').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00000"/>
            <a:ext cx="10728960" cy="13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52400" rIns="190500" bIns="152400"/>
          <a:lstStyle/>
          <a:p>
            <a:pPr algn="ctr">
              <a:defRPr sz="1700" b="1">
                <a:solidFill>
                  <a:srgbClr val="1E3A4C"/>
                </a:solidFill>
                <a:latin typeface="Segoe UI"/>
              </a:defRPr>
            </a:pPr>
            <a:r>
              <a:t>🟢  1. LA RAÍZ: Persistencia y Almacenamiento Seguros (Capa de Datos / Disco)</a:t>
            </a:r>
          </a:p>
          <a:p>
            <a:pPr>
              <a:defRPr sz="1300">
                <a:solidFill>
                  <a:srgbClr val="333333"/>
                </a:solidFill>
                <a:latin typeface="Segoe UI"/>
              </a:defRPr>
            </a:pPr>
            <a:r>
              <a:t>• Archivos Planos TXT: 'inventario_medicinas.txt' y 'registro_pedidos.txt' que preservan la información físicamente.</a:t>
            </a:r>
          </a:p>
          <a:p>
            <a:pPr>
              <a:defRPr sz="1300">
                <a:solidFill>
                  <a:srgbClr val="333333"/>
                </a:solidFill>
                <a:latin typeface="Segoe UI"/>
              </a:defRPr>
            </a:pPr>
            <a:r>
              <a:t>• Módulo 'gestion_archivos.py': Lectura/escritura segura con 'with open', limpieza de líneas y conversión automática de tipos.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80000"/>
            <a:ext cx="10728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Segoe UI"/>
              </a:defRPr>
            </a:pPr>
            <a:r>
              <a:t>▲   Carga al iniciar (desde_lista)   |   Guardado automático (actualizar_archivo)   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80000"/>
            <a:ext cx="10728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Segoe UI"/>
              </a:defRPr>
            </a:pPr>
            <a:r>
              <a:t>▲   La interfaz invoca métodos en RAM y muestra respuestas en tiempo real   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¿Qué es PyPharma Manager?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rPr lang="es-EC" noProof="0" dirty="0"/>
              <a:t>Solución integral para la administración y control farmacéutico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Propuesta de Valor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Control de Inventario: </a:t>
            </a:r>
            <a:r>
              <a:rPr lang="es-EC" noProof="0" dirty="0"/>
              <a:t>Administración eficiente del catálogo de medicamentos en tiempo real.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Gestión de Ventas: </a:t>
            </a:r>
            <a:r>
              <a:rPr lang="es-EC" noProof="0" dirty="0"/>
              <a:t>Registro rápido de pedidos de clientes con cálculo automático de totales.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Persistencia Confiable: </a:t>
            </a:r>
            <a:r>
              <a:rPr lang="es-EC" noProof="0" dirty="0"/>
              <a:t>Almacenamiento seguro y continuo en archivos de texto planos (TXT).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Precisión Operativa: </a:t>
            </a:r>
            <a:r>
              <a:rPr lang="es-EC" noProof="0" dirty="0"/>
              <a:t>Previene descuadres de stock y errores de cálculo en caja.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Características Principales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Interfaz por Consola: </a:t>
            </a:r>
            <a:r>
              <a:rPr lang="es-EC" noProof="0" dirty="0"/>
              <a:t>Menús interactivos rápidos, fluidos y de excelente legibilidad.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Validación Activa: </a:t>
            </a:r>
            <a:r>
              <a:rPr lang="es-EC" noProof="0" dirty="0"/>
              <a:t>Protección contra errores de tipeo y manejo de excepciones (try/</a:t>
            </a:r>
            <a:r>
              <a:rPr lang="es-EC" noProof="0" dirty="0" err="1"/>
              <a:t>except</a:t>
            </a:r>
            <a:r>
              <a:rPr lang="es-EC" noProof="0" dirty="0"/>
              <a:t>).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Orientado a Objetos: </a:t>
            </a:r>
            <a:r>
              <a:rPr lang="es-EC" noProof="0" dirty="0"/>
              <a:t>Modelado robusto con clases especializadas y alta cohesión.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Ligero y Nativo: </a:t>
            </a:r>
            <a:r>
              <a:rPr lang="es-EC" noProof="0" dirty="0"/>
              <a:t>Desarrollado en Python puro, sin necesidad de bases de datos externas.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[1. LA RAÍZ] Persistencia y Almacenamiento (Capa de Datos)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t>Almacenamiento continuo en archivos planos TXT sin pérdida de información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t>Manejo de Archivos (TXT/CSV)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Manejadores de Contexto: Uso seguro de 'with open(...)' que garantiza el cierre de archivos sin bloqueos.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Conversión Automática: Función 'evaluar_y_convertir()' en gestion_archivos.py que tipifica int, float y str al iniciar.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Codificación UTF-8: Soporte nativo para tildes y caracteres especiales en español.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Sobrescritura Segura: Actualización instantánea y sincronizada tras cada registro, venta o modificación.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📄 Estructura de Archivos 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=== datos/inventario_medicinas.txt ===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15,Paracetamol,0.3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24,Ibuprofeno,0.85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34,Amoxicilina,0.45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10,Omeprazol,0.8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50,Vitamina C,1.5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endParaRPr lang="es-EC" noProof="0" dirty="0"/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=== datos/registro_pedidos.txt ===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Steven,2,Cefalexina,0.2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Jonathan,2,Loratadina,0.25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Elias,3,Paracetamol,0.3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Sebastian,1,Vitamina C,1.5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7ACBB-D31B-598E-937C-A55D20E39BCE}"/>
              </a:ext>
            </a:extLst>
          </p:cNvPr>
          <p:cNvCxnSpPr/>
          <p:nvPr/>
        </p:nvCxnSpPr>
        <p:spPr>
          <a:xfrm>
            <a:off x="6492240" y="3732551"/>
            <a:ext cx="4754880" cy="0"/>
          </a:xfrm>
          <a:prstGeom prst="line">
            <a:avLst/>
          </a:prstGeom>
          <a:ln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Arquitectura Modular del Proyecto (3 Capas)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t>Vista estructural del código y separación de responsabilidades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Diseño Modular en 3 Capas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Capa de Entrada (main.py): </a:t>
            </a:r>
            <a:r>
              <a:rPr lang="es-EC" noProof="0" dirty="0"/>
              <a:t>Punto de inicio conciso que conecta módulos y arranca el bucle principal.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Capa de Modelo (clases/): </a:t>
            </a:r>
            <a:r>
              <a:rPr lang="es-EC" noProof="0" dirty="0"/>
              <a:t>Entidades 'Medicamento' y 'Pedido' con lógica autónoma.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Capa de Servicios (</a:t>
            </a:r>
            <a:r>
              <a:rPr lang="es-EC" b="1" noProof="0" dirty="0" err="1">
                <a:solidFill>
                  <a:srgbClr val="48A9A6"/>
                </a:solidFill>
              </a:rPr>
              <a:t>modulos</a:t>
            </a:r>
            <a:r>
              <a:rPr lang="es-EC" b="1" noProof="0" dirty="0">
                <a:solidFill>
                  <a:srgbClr val="48A9A6"/>
                </a:solidFill>
              </a:rPr>
              <a:t>/): </a:t>
            </a:r>
            <a:r>
              <a:rPr lang="es-EC" noProof="0" dirty="0"/>
              <a:t>Manejo de archivos TXT, menús de usuario y utilidades.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Desacoplamiento: </a:t>
            </a:r>
            <a:r>
              <a:rPr lang="es-EC" noProof="0" dirty="0"/>
              <a:t>Cada módulo cumple una única responsabilidad clara y bien definida.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48A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📄 Vista de Archivos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 err="1"/>
              <a:t>PyPharma_Manager</a:t>
            </a:r>
            <a:r>
              <a:rPr lang="es-EC" noProof="0" dirty="0"/>
              <a:t>/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├── 📂 clases/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├── 📄 medicamento.py   # Modelo Fármaco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└── 📄 pedido.py        # Modelo Venta/Orden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├── 📂 </a:t>
            </a:r>
            <a:r>
              <a:rPr lang="es-EC" noProof="0" dirty="0" err="1"/>
              <a:t>modulos</a:t>
            </a:r>
            <a:r>
              <a:rPr lang="es-EC" noProof="0" dirty="0"/>
              <a:t>/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├── 📄 gestion_archivos.py # Persistencia TXT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├── 📄 utilidades.py       # Validaciones try/</a:t>
            </a:r>
            <a:r>
              <a:rPr lang="es-EC" noProof="0" dirty="0" err="1"/>
              <a:t>exc</a:t>
            </a:r>
            <a:endParaRPr lang="es-EC" noProof="0" dirty="0"/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└── 📄 menus.py            # Interfaz de Usuario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├── 📂 datos/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├── 📄 inventario_medicinas.txt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│   └── 📄 registro_pedidos.txt</a:t>
            </a:r>
          </a:p>
          <a:p>
            <a:pPr>
              <a:spcAft>
                <a:spcPts val="400"/>
              </a:spcAft>
              <a:defRPr sz="1200">
                <a:solidFill>
                  <a:srgbClr val="283038"/>
                </a:solidFill>
                <a:latin typeface="Consolas"/>
              </a:defRPr>
            </a:pPr>
            <a:r>
              <a:rPr lang="es-EC" noProof="0" dirty="0"/>
              <a:t>└── 🚀 main.py              # </a:t>
            </a:r>
            <a:r>
              <a:rPr lang="es-EC" noProof="0" dirty="0" err="1"/>
              <a:t>Entry</a:t>
            </a:r>
            <a:r>
              <a:rPr lang="es-EC" noProof="0" dirty="0"/>
              <a:t> Point del Sistema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[2. EL TRONCO] Modelos POO y Comunicación Directa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t>Autonomía de entidades en memoria RAM y principio 'sin intermediarios'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t>Autonomía de las Clases en RAM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Clase Medicamento: Modelado de fármacos con métodos propios 'a_lista()' y 'desde_lista()' para autogestionarse.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Clase Pedido: Gestión del carrito de compras y método 'a_filas_registro()' para exportar ventas al historial.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Módulo de Archivos: Separación pura de responsabilidades; se enfoca solo en leer y escribir en disco.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Módulo de Menús: Conecta de forma directa las clases en memoria con el guardado físico.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Ventajas del Diseño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Sin Intermediarios: </a:t>
            </a:r>
            <a:r>
              <a:rPr lang="es-EC" noProof="0" dirty="0"/>
              <a:t>No utilizamos módulos traductores innecesarios y código duplicado.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Alta Cohesión: </a:t>
            </a:r>
            <a:r>
              <a:rPr lang="es-EC" noProof="0" dirty="0"/>
              <a:t>Cada entidad es dueña absoluta de sus datos y formato.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Bajo Acoplamiento: </a:t>
            </a:r>
            <a:r>
              <a:rPr lang="es-EC" noProof="0" dirty="0"/>
              <a:t>Las capas se comunican mediante interfaces estándar de listas.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Legibilidad: </a:t>
            </a:r>
            <a:r>
              <a:rPr lang="es-EC" noProof="0" dirty="0"/>
              <a:t>Código limpio, profesional y altamente mantenible.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[2. EL TRONCO] Lógica de Negocio y Validaciones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t>Control operativo en memoria RAM y protección activa contra errores ('utilidades.py')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t>Lógica Operativa en Memoria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Control de Inventario: Alta de fármacos con verificación de duplicados, edición de precios y reabastecimiento.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Descuentos y Ventas: Aplicación de rebajas (0-100%) y cálculo automático de totales en el carrito de compras.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Verificación en Tiempo Real: Comprobación instantánea de stock disponible antes de procesar cualquier pedido.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t>Validaciones y Búsquedas (utilidades.py)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Prevención de Fallos: Funciones 'leer_entero()' y 'leer_float()' blindadas con bloques try-except.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Estabilidad Total: El programa nunca colapsa ante errores de tipeo o entradas inválidas del usuario en consola.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Búsqueda Ultrarrápida: Algoritmos de filtrado por nombre exacto o coincidencia parcial en listas en RAM.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9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[3. LA SUPERFICIE] Interfaz Interactiva de Consola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t>Experiencia de usuario fluida, menús modulares ('menus.py') y control en 'main.py'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t>Navegación e Interacción en Python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Menú Principal: Opciones numeradas del 1 al 8 en 'menus.py' para un acceso directo y rápido.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Limpieza de Pantalla: Uso de 'os.system("cls")' para mantener una interfaz limpia y profesional.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Flujo Continuo: El usuario puede realizar múltiples operaciones operativas sin salir de la sesión.</a:t>
            </a:r>
          </a:p>
          <a:p>
            <a:pPr>
              <a:spcAft>
                <a:spcPts val="800"/>
              </a:spcAft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Demostración en Vivo: Ejecución real mostrando cómo se actualizan los datos en pantalla y disco.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89761"/>
            <a:ext cx="5242060" cy="4528159"/>
          </a:xfrm>
          <a:custGeom>
            <a:avLst/>
            <a:gdLst>
              <a:gd name="csX0" fmla="*/ 0 w 5212080"/>
              <a:gd name="csY0" fmla="*/ 762015 h 4572000"/>
              <a:gd name="csX1" fmla="*/ 762015 w 5212080"/>
              <a:gd name="csY1" fmla="*/ 0 h 4572000"/>
              <a:gd name="csX2" fmla="*/ 4450065 w 5212080"/>
              <a:gd name="csY2" fmla="*/ 0 h 4572000"/>
              <a:gd name="csX3" fmla="*/ 5212080 w 5212080"/>
              <a:gd name="csY3" fmla="*/ 762015 h 4572000"/>
              <a:gd name="csX4" fmla="*/ 5212080 w 5212080"/>
              <a:gd name="csY4" fmla="*/ 3809985 h 4572000"/>
              <a:gd name="csX5" fmla="*/ 4450065 w 5212080"/>
              <a:gd name="csY5" fmla="*/ 4572000 h 4572000"/>
              <a:gd name="csX6" fmla="*/ 762015 w 5212080"/>
              <a:gd name="csY6" fmla="*/ 4572000 h 4572000"/>
              <a:gd name="csX7" fmla="*/ 0 w 5212080"/>
              <a:gd name="csY7" fmla="*/ 3809985 h 4572000"/>
              <a:gd name="csX8" fmla="*/ 0 w 5212080"/>
              <a:gd name="csY8" fmla="*/ 762015 h 4572000"/>
              <a:gd name="csX0" fmla="*/ 0 w 5212080"/>
              <a:gd name="csY0" fmla="*/ 762015 h 4572000"/>
              <a:gd name="csX1" fmla="*/ 4450065 w 5212080"/>
              <a:gd name="csY1" fmla="*/ 0 h 4572000"/>
              <a:gd name="csX2" fmla="*/ 5212080 w 5212080"/>
              <a:gd name="csY2" fmla="*/ 762015 h 4572000"/>
              <a:gd name="csX3" fmla="*/ 5212080 w 5212080"/>
              <a:gd name="csY3" fmla="*/ 3809985 h 4572000"/>
              <a:gd name="csX4" fmla="*/ 4450065 w 5212080"/>
              <a:gd name="csY4" fmla="*/ 4572000 h 4572000"/>
              <a:gd name="csX5" fmla="*/ 762015 w 5212080"/>
              <a:gd name="csY5" fmla="*/ 4572000 h 4572000"/>
              <a:gd name="csX6" fmla="*/ 0 w 5212080"/>
              <a:gd name="csY6" fmla="*/ 3809985 h 4572000"/>
              <a:gd name="csX7" fmla="*/ 0 w 5212080"/>
              <a:gd name="csY7" fmla="*/ 762015 h 4572000"/>
              <a:gd name="csX0" fmla="*/ 14990 w 5212080"/>
              <a:gd name="csY0" fmla="*/ 297933 h 4812456"/>
              <a:gd name="csX1" fmla="*/ 4450065 w 5212080"/>
              <a:gd name="csY1" fmla="*/ 240456 h 4812456"/>
              <a:gd name="csX2" fmla="*/ 5212080 w 5212080"/>
              <a:gd name="csY2" fmla="*/ 1002471 h 4812456"/>
              <a:gd name="csX3" fmla="*/ 5212080 w 5212080"/>
              <a:gd name="csY3" fmla="*/ 4050441 h 4812456"/>
              <a:gd name="csX4" fmla="*/ 4450065 w 5212080"/>
              <a:gd name="csY4" fmla="*/ 4812456 h 4812456"/>
              <a:gd name="csX5" fmla="*/ 762015 w 5212080"/>
              <a:gd name="csY5" fmla="*/ 4812456 h 4812456"/>
              <a:gd name="csX6" fmla="*/ 0 w 5212080"/>
              <a:gd name="csY6" fmla="*/ 4050441 h 4812456"/>
              <a:gd name="csX7" fmla="*/ 14990 w 5212080"/>
              <a:gd name="csY7" fmla="*/ 297933 h 4812456"/>
              <a:gd name="csX0" fmla="*/ 14990 w 5212080"/>
              <a:gd name="csY0" fmla="*/ 297933 h 4812456"/>
              <a:gd name="csX1" fmla="*/ 4450065 w 5212080"/>
              <a:gd name="csY1" fmla="*/ 240456 h 4812456"/>
              <a:gd name="csX2" fmla="*/ 5212080 w 5212080"/>
              <a:gd name="csY2" fmla="*/ 1002471 h 4812456"/>
              <a:gd name="csX3" fmla="*/ 5212080 w 5212080"/>
              <a:gd name="csY3" fmla="*/ 4050441 h 4812456"/>
              <a:gd name="csX4" fmla="*/ 4450065 w 5212080"/>
              <a:gd name="csY4" fmla="*/ 4812456 h 4812456"/>
              <a:gd name="csX5" fmla="*/ 762015 w 5212080"/>
              <a:gd name="csY5" fmla="*/ 4812456 h 4812456"/>
              <a:gd name="csX6" fmla="*/ 0 w 5212080"/>
              <a:gd name="csY6" fmla="*/ 4050441 h 4812456"/>
              <a:gd name="csX7" fmla="*/ 14990 w 5212080"/>
              <a:gd name="csY7" fmla="*/ 297933 h 4812456"/>
              <a:gd name="csX0" fmla="*/ 14990 w 5212080"/>
              <a:gd name="csY0" fmla="*/ 297933 h 4812456"/>
              <a:gd name="csX1" fmla="*/ 4450065 w 5212080"/>
              <a:gd name="csY1" fmla="*/ 240456 h 4812456"/>
              <a:gd name="csX2" fmla="*/ 5212080 w 5212080"/>
              <a:gd name="csY2" fmla="*/ 1002471 h 4812456"/>
              <a:gd name="csX3" fmla="*/ 5212080 w 5212080"/>
              <a:gd name="csY3" fmla="*/ 4050441 h 4812456"/>
              <a:gd name="csX4" fmla="*/ 4450065 w 5212080"/>
              <a:gd name="csY4" fmla="*/ 4812456 h 4812456"/>
              <a:gd name="csX5" fmla="*/ 762015 w 5212080"/>
              <a:gd name="csY5" fmla="*/ 4812456 h 4812456"/>
              <a:gd name="csX6" fmla="*/ 0 w 5212080"/>
              <a:gd name="csY6" fmla="*/ 4050441 h 4812456"/>
              <a:gd name="csX7" fmla="*/ 14990 w 5212080"/>
              <a:gd name="csY7" fmla="*/ 297933 h 4812456"/>
              <a:gd name="csX0" fmla="*/ 14990 w 5212080"/>
              <a:gd name="csY0" fmla="*/ 297933 h 4812456"/>
              <a:gd name="csX1" fmla="*/ 4450065 w 5212080"/>
              <a:gd name="csY1" fmla="*/ 240456 h 4812456"/>
              <a:gd name="csX2" fmla="*/ 5212080 w 5212080"/>
              <a:gd name="csY2" fmla="*/ 1002471 h 4812456"/>
              <a:gd name="csX3" fmla="*/ 5212080 w 5212080"/>
              <a:gd name="csY3" fmla="*/ 4050441 h 4812456"/>
              <a:gd name="csX4" fmla="*/ 4450065 w 5212080"/>
              <a:gd name="csY4" fmla="*/ 4812456 h 4812456"/>
              <a:gd name="csX5" fmla="*/ 762015 w 5212080"/>
              <a:gd name="csY5" fmla="*/ 4812456 h 4812456"/>
              <a:gd name="csX6" fmla="*/ 0 w 5212080"/>
              <a:gd name="csY6" fmla="*/ 4050441 h 4812456"/>
              <a:gd name="csX7" fmla="*/ 14990 w 5212080"/>
              <a:gd name="csY7" fmla="*/ 297933 h 4812456"/>
              <a:gd name="csX0" fmla="*/ 14990 w 5212080"/>
              <a:gd name="csY0" fmla="*/ 192814 h 4707337"/>
              <a:gd name="csX1" fmla="*/ 5212080 w 5212080"/>
              <a:gd name="csY1" fmla="*/ 897352 h 4707337"/>
              <a:gd name="csX2" fmla="*/ 5212080 w 5212080"/>
              <a:gd name="csY2" fmla="*/ 3945322 h 4707337"/>
              <a:gd name="csX3" fmla="*/ 4450065 w 5212080"/>
              <a:gd name="csY3" fmla="*/ 4707337 h 4707337"/>
              <a:gd name="csX4" fmla="*/ 762015 w 5212080"/>
              <a:gd name="csY4" fmla="*/ 4707337 h 4707337"/>
              <a:gd name="csX5" fmla="*/ 0 w 5212080"/>
              <a:gd name="csY5" fmla="*/ 3945322 h 4707337"/>
              <a:gd name="csX6" fmla="*/ 14990 w 5212080"/>
              <a:gd name="csY6" fmla="*/ 192814 h 4707337"/>
              <a:gd name="csX0" fmla="*/ 14990 w 5242060"/>
              <a:gd name="csY0" fmla="*/ 418165 h 4932688"/>
              <a:gd name="csX1" fmla="*/ 5242060 w 5242060"/>
              <a:gd name="csY1" fmla="*/ 433155 h 4932688"/>
              <a:gd name="csX2" fmla="*/ 5212080 w 5242060"/>
              <a:gd name="csY2" fmla="*/ 4170673 h 4932688"/>
              <a:gd name="csX3" fmla="*/ 4450065 w 5242060"/>
              <a:gd name="csY3" fmla="*/ 4932688 h 4932688"/>
              <a:gd name="csX4" fmla="*/ 762015 w 5242060"/>
              <a:gd name="csY4" fmla="*/ 4932688 h 4932688"/>
              <a:gd name="csX5" fmla="*/ 0 w 5242060"/>
              <a:gd name="csY5" fmla="*/ 4170673 h 4932688"/>
              <a:gd name="csX6" fmla="*/ 14990 w 5242060"/>
              <a:gd name="csY6" fmla="*/ 418165 h 4932688"/>
              <a:gd name="csX0" fmla="*/ 14990 w 5242060"/>
              <a:gd name="csY0" fmla="*/ 273426 h 4787949"/>
              <a:gd name="csX1" fmla="*/ 5242060 w 5242060"/>
              <a:gd name="csY1" fmla="*/ 288416 h 4787949"/>
              <a:gd name="csX2" fmla="*/ 5212080 w 5242060"/>
              <a:gd name="csY2" fmla="*/ 4025934 h 4787949"/>
              <a:gd name="csX3" fmla="*/ 4450065 w 5242060"/>
              <a:gd name="csY3" fmla="*/ 4787949 h 4787949"/>
              <a:gd name="csX4" fmla="*/ 762015 w 5242060"/>
              <a:gd name="csY4" fmla="*/ 4787949 h 4787949"/>
              <a:gd name="csX5" fmla="*/ 0 w 5242060"/>
              <a:gd name="csY5" fmla="*/ 4025934 h 4787949"/>
              <a:gd name="csX6" fmla="*/ 14990 w 5242060"/>
              <a:gd name="csY6" fmla="*/ 273426 h 4787949"/>
              <a:gd name="csX0" fmla="*/ 14990 w 5242060"/>
              <a:gd name="csY0" fmla="*/ 95940 h 4610463"/>
              <a:gd name="csX1" fmla="*/ 5242060 w 5242060"/>
              <a:gd name="csY1" fmla="*/ 110930 h 4610463"/>
              <a:gd name="csX2" fmla="*/ 5212080 w 5242060"/>
              <a:gd name="csY2" fmla="*/ 3848448 h 4610463"/>
              <a:gd name="csX3" fmla="*/ 4450065 w 5242060"/>
              <a:gd name="csY3" fmla="*/ 4610463 h 4610463"/>
              <a:gd name="csX4" fmla="*/ 762015 w 5242060"/>
              <a:gd name="csY4" fmla="*/ 4610463 h 4610463"/>
              <a:gd name="csX5" fmla="*/ 0 w 5242060"/>
              <a:gd name="csY5" fmla="*/ 3848448 h 4610463"/>
              <a:gd name="csX6" fmla="*/ 14990 w 5242060"/>
              <a:gd name="csY6" fmla="*/ 95940 h 4610463"/>
              <a:gd name="csX0" fmla="*/ 14990 w 5242060"/>
              <a:gd name="csY0" fmla="*/ 13636 h 4528159"/>
              <a:gd name="csX1" fmla="*/ 5242060 w 5242060"/>
              <a:gd name="csY1" fmla="*/ 28626 h 4528159"/>
              <a:gd name="csX2" fmla="*/ 5212080 w 5242060"/>
              <a:gd name="csY2" fmla="*/ 3766144 h 4528159"/>
              <a:gd name="csX3" fmla="*/ 4450065 w 5242060"/>
              <a:gd name="csY3" fmla="*/ 4528159 h 4528159"/>
              <a:gd name="csX4" fmla="*/ 762015 w 5242060"/>
              <a:gd name="csY4" fmla="*/ 4528159 h 4528159"/>
              <a:gd name="csX5" fmla="*/ 0 w 5242060"/>
              <a:gd name="csY5" fmla="*/ 3766144 h 4528159"/>
              <a:gd name="csX6" fmla="*/ 14990 w 5242060"/>
              <a:gd name="csY6" fmla="*/ 13636 h 4528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42060" h="4528159">
                <a:moveTo>
                  <a:pt x="14990" y="13636"/>
                </a:moveTo>
                <a:cubicBezTo>
                  <a:pt x="1003592" y="-44654"/>
                  <a:pt x="4330908" y="107746"/>
                  <a:pt x="5242060" y="28626"/>
                </a:cubicBezTo>
                <a:lnTo>
                  <a:pt x="5212080" y="3766144"/>
                </a:lnTo>
                <a:cubicBezTo>
                  <a:pt x="5212080" y="4186993"/>
                  <a:pt x="4870914" y="4528159"/>
                  <a:pt x="4450065" y="4528159"/>
                </a:cubicBezTo>
                <a:lnTo>
                  <a:pt x="762015" y="4528159"/>
                </a:lnTo>
                <a:cubicBezTo>
                  <a:pt x="341166" y="4528159"/>
                  <a:pt x="0" y="4186993"/>
                  <a:pt x="0" y="3766144"/>
                </a:cubicBezTo>
                <a:cubicBezTo>
                  <a:pt x="4997" y="2515308"/>
                  <a:pt x="9993" y="1264472"/>
                  <a:pt x="14990" y="13636"/>
                </a:cubicBezTo>
                <a:close/>
              </a:path>
            </a:pathLst>
          </a:cu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230620" y="1645920"/>
            <a:ext cx="5212080" cy="365760"/>
          </a:xfrm>
          <a:prstGeom prst="roundRect">
            <a:avLst/>
          </a:prstGeom>
          <a:solidFill>
            <a:srgbClr val="28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9" name="Oval 8"/>
          <p:cNvSpPr/>
          <p:nvPr/>
        </p:nvSpPr>
        <p:spPr>
          <a:xfrm>
            <a:off x="6355080" y="175564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0" name="Oval 9"/>
          <p:cNvSpPr/>
          <p:nvPr/>
        </p:nvSpPr>
        <p:spPr>
          <a:xfrm>
            <a:off x="6565392" y="175564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1" name="Oval 10"/>
          <p:cNvSpPr/>
          <p:nvPr/>
        </p:nvSpPr>
        <p:spPr>
          <a:xfrm>
            <a:off x="6775704" y="175564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040880" y="169164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C8"/>
                </a:solidFill>
                <a:latin typeface="Consolas"/>
              </a:defRPr>
            </a:pPr>
            <a:r>
              <a:rPr lang="es-EC" noProof="0" dirty="0"/>
              <a:t>Consola - PyPharma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===== SISTEMA DE FARMACIA - GRUPO 7 =====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1. Registrar medicamento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2. Actualizar medicamento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3. Buscar medicamento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4. Consultar inventario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5. Eliminar medicamento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6. Crear pedido (venta)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7. Consultar pedidos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8. Salir</a:t>
            </a:r>
          </a:p>
          <a:p>
            <a:pPr>
              <a:spcAft>
                <a:spcPts val="300"/>
              </a:spcAft>
              <a:defRPr sz="1200">
                <a:solidFill>
                  <a:srgbClr val="50DC8C"/>
                </a:solidFill>
                <a:latin typeface="Consolas"/>
              </a:defRPr>
            </a:pPr>
            <a:r>
              <a:rPr lang="es-EC" sz="1600" noProof="0" dirty="0"/>
              <a:t>Seleccione una opción: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Conclusiones del Proyecto</a:t>
            </a:r>
          </a:p>
          <a:p>
            <a:pPr>
              <a:spcBef>
                <a:spcPts val="400"/>
              </a:spcBef>
              <a:defRPr sz="1500">
                <a:solidFill>
                  <a:srgbClr val="6E7882"/>
                </a:solidFill>
                <a:latin typeface="Segoe UI"/>
              </a:defRPr>
            </a:pPr>
            <a:r>
              <a:rPr lang="es-EC" noProof="0" dirty="0"/>
              <a:t>Logros académicos y síntesis técnica de PyPharma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Logros Académicos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Estructura de Datos: </a:t>
            </a:r>
            <a:r>
              <a:rPr lang="es-EC" noProof="0" dirty="0"/>
              <a:t>Aplicación práctica y eficiente de listas, diccionarios y objetos.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Ingeniería en Software: </a:t>
            </a:r>
            <a:r>
              <a:rPr lang="es-EC" noProof="0" dirty="0"/>
              <a:t>Desarrollo aplicando modularidad y buenas prácticas de codificación.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Robustez del Sistema: </a:t>
            </a:r>
            <a:r>
              <a:rPr lang="es-EC" noProof="0" dirty="0"/>
              <a:t>Prevención total de fallos de ejecución ante entradas del usuario.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Trabajo en Equipo: </a:t>
            </a:r>
            <a:r>
              <a:rPr lang="es-EC" noProof="0" dirty="0"/>
              <a:t>Colaboración exitosa y articulación del Grupo 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E3A4C"/>
                </a:solidFill>
                <a:latin typeface="Segoe UI"/>
              </a:defRPr>
            </a:pPr>
            <a:r>
              <a:rPr lang="es-EC" noProof="0" dirty="0"/>
              <a:t>PyPharma Manager - Grupo 7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Steven Montalván: </a:t>
            </a:r>
            <a:r>
              <a:rPr lang="es-EC" noProof="0" dirty="0"/>
              <a:t>Desarrollo de Modelos y Lógica de Pedidos.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Jonathan Bravo: </a:t>
            </a:r>
            <a:r>
              <a:rPr lang="es-EC" noProof="0" dirty="0"/>
              <a:t>Módulo de Persistencia y Gestión de Archivos.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Sebastián Nevárez: </a:t>
            </a:r>
            <a:r>
              <a:rPr lang="es-EC" noProof="0" dirty="0"/>
              <a:t>Interfaz por Consola y Punto de Entrada.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b="1" noProof="0" dirty="0">
                <a:solidFill>
                  <a:srgbClr val="48A9A6"/>
                </a:solidFill>
              </a:rPr>
              <a:t>• Elías Balladares: </a:t>
            </a:r>
            <a:r>
              <a:rPr lang="es-EC" noProof="0" dirty="0"/>
              <a:t>Validaciones, Búsquedas y Pruebas Integrales.</a:t>
            </a:r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endParaRPr lang="es-EC" noProof="0" dirty="0"/>
          </a:p>
          <a:p>
            <a:pPr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endParaRPr lang="es-EC" noProof="0" dirty="0"/>
          </a:p>
          <a:p>
            <a:pPr algn="ctr">
              <a:spcAft>
                <a:spcPts val="800"/>
              </a:spcAft>
              <a:defRPr sz="1400">
                <a:solidFill>
                  <a:srgbClr val="283038"/>
                </a:solidFill>
                <a:latin typeface="Segoe UI"/>
              </a:defRPr>
            </a:pPr>
            <a:r>
              <a:rPr lang="es-EC" sz="3600" b="1" noProof="0" dirty="0">
                <a:solidFill>
                  <a:srgbClr val="48A9A6"/>
                </a:solidFill>
              </a:rPr>
              <a:t>¡Muchas Gracias!</a:t>
            </a:r>
            <a:endParaRPr lang="es-EC" sz="3600" noProof="0" dirty="0"/>
          </a:p>
        </p:txBody>
      </p:sp>
      <p:pic>
        <p:nvPicPr>
          <p:cNvPr id="9" name="Picture 8" descr="Google Meet: Videoconferencia | UC3M">
            <a:extLst>
              <a:ext uri="{FF2B5EF4-FFF2-40B4-BE49-F238E27FC236}">
                <a16:creationId xmlns:a16="http://schemas.microsoft.com/office/drawing/2014/main" id="{4625E3B5-CDC5-773A-8BB4-CB282613C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06" y="4688052"/>
            <a:ext cx="1230810" cy="1233272"/>
          </a:xfrm>
          <a:prstGeom prst="rect">
            <a:avLst/>
          </a:prstGeom>
        </p:spPr>
      </p:pic>
      <p:pic>
        <p:nvPicPr>
          <p:cNvPr id="10" name="Graphic 9" descr="GitHub - Wikipedia, la enciclopedia libre">
            <a:extLst>
              <a:ext uri="{FF2B5EF4-FFF2-40B4-BE49-F238E27FC236}">
                <a16:creationId xmlns:a16="http://schemas.microsoft.com/office/drawing/2014/main" id="{61AC600D-5B96-AFC9-637E-0F4BAFFD2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716" y="4764347"/>
            <a:ext cx="1030009" cy="1030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4C"/>
                </a:solidFill>
                <a:latin typeface="Segoe UI"/>
              </a:defRPr>
            </a:pPr>
            <a:r>
              <a:t>[3. LA SUPERFICIE] Interfaz Web HTML5 de Apoyo</a:t>
            </a:r>
          </a:p>
          <a:p>
            <a:pPr>
              <a:defRPr sz="1500">
                <a:solidFill>
                  <a:srgbClr val="6E7882"/>
                </a:solidFill>
                <a:latin typeface="Segoe UI"/>
              </a:defRPr>
            </a:pPr>
            <a:r>
              <a:t>Portafolio visual moderno y documentación como soporte para la exposición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A4C"/>
                </a:solidFill>
                <a:latin typeface="Segoe UI"/>
              </a:defRPr>
            </a:pPr>
            <a:r>
              <a:t>Diseño y Desarrollo Web</a:t>
            </a:r>
          </a:p>
          <a:p>
            <a:pPr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Cumplimiento Académico: Desarrollo de página web ('index.html' y 'presentacion.html') según requisitos de la asignatura.</a:t>
            </a:r>
          </a:p>
          <a:p>
            <a:pPr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Estética Moderna: Estilos CSS avanzados con gradientes, tipografía Google Fonts y diseño limpio y responsivo.</a:t>
            </a:r>
          </a:p>
          <a:p>
            <a:pPr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Rol de Apoyo: Actúa como soporte visual y documental mientras el sistema principal corre de forma nativa en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A4C"/>
                </a:solidFill>
                <a:latin typeface="Segoe UI"/>
              </a:defRPr>
            </a:pPr>
            <a:r>
              <a:t>Contenido del Portal HTML5</a:t>
            </a:r>
          </a:p>
          <a:p>
            <a:pPr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Portada Institucional: Universidad Estatal de Milagro, facultad, asignatura, docente e integrantes del Grupo 7.</a:t>
            </a:r>
          </a:p>
          <a:p>
            <a:pPr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Documentación Técnica: Objetivo del sistema, descripción del problema y funcionalidades clave orientadas a objetos.</a:t>
            </a:r>
          </a:p>
          <a:p>
            <a:pPr>
              <a:defRPr sz="1400" b="0">
                <a:solidFill>
                  <a:srgbClr val="283038"/>
                </a:solidFill>
                <a:latin typeface="Segoe UI"/>
              </a:defRPr>
            </a:pPr>
            <a:r>
              <a:t>• Evidencia Visual: Capturas de pantalla del sistema en Python, tecnologías utilizadas y conclusiones generales.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1100</Words>
  <Application>Microsoft Office PowerPoint</Application>
  <PresentationFormat>Widescreen</PresentationFormat>
  <Paragraphs>118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Balladares</cp:lastModifiedBy>
  <cp:revision>4</cp:revision>
  <dcterms:created xsi:type="dcterms:W3CDTF">2013-01-27T09:14:16Z</dcterms:created>
  <dcterms:modified xsi:type="dcterms:W3CDTF">2026-07-07T06:48:52Z</dcterms:modified>
  <cp:category/>
</cp:coreProperties>
</file>